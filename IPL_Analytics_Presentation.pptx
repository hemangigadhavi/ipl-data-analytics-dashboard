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6488924ca0684cde" /><Relationship Type="http://schemas.openxmlformats.org/package/2006/relationships/metadata/core-properties" Target="/docProps/core.xml" Id="R8ca09eb805804619" /><Relationship Type="http://schemas.openxmlformats.org/officeDocument/2006/relationships/extended-properties" Target="/docProps/app.xml" Id="R17e45b711cd04558" /><Relationship Type="http://schemas.openxmlformats.org/officeDocument/2006/relationships/custom-properties" Target="/docProps/custom.xml" Id="R50839a0f9f5d4c07"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ff88eecd49274adf"/>
  </p:notesMasterIdLst>
  <p:sldIdLst>
    <p:sldId id="256" r:id="Rd55b292f2b074c4a"/>
    <p:sldId id="257" r:id="Rf45d02c68ba64897"/>
    <p:sldId id="258" r:id="R943ef4fd42574246"/>
    <p:sldId id="259" r:id="Rcdd15645a9f74a0b"/>
    <p:sldId id="260" r:id="R94d9a13029c04a68"/>
    <p:sldId id="261" r:id="R8d00955318864cdf"/>
    <p:sldId id="262" r:id="Ra771b4b1c8304af9"/>
    <p:sldId id="263" r:id="R8a5e621bb7fe4f1f"/>
    <p:sldId id="264" r:id="R7befc628cc184b45"/>
    <p:sldId id="265" r:id="R3facde454f4e49fa"/>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d55b292f2b074c4a" /><Relationship Type="http://schemas.openxmlformats.org/officeDocument/2006/relationships/notesMaster" Target="/ppt/notesMasters/notesMaster1.xml" Id="Rff88eecd49274adf" /><Relationship Type="http://schemas.openxmlformats.org/officeDocument/2006/relationships/slide" Target="/ppt/slides/slide2.xml" Id="Rf45d02c68ba64897" /><Relationship Type="http://schemas.openxmlformats.org/officeDocument/2006/relationships/slide" Target="/ppt/slides/slide3.xml" Id="R943ef4fd42574246" /><Relationship Type="http://schemas.openxmlformats.org/officeDocument/2006/relationships/slide" Target="/ppt/slides/slide4.xml" Id="Rcdd15645a9f74a0b" /><Relationship Type="http://schemas.openxmlformats.org/officeDocument/2006/relationships/slide" Target="/ppt/slides/slide5.xml" Id="R94d9a13029c04a68" /><Relationship Type="http://schemas.openxmlformats.org/officeDocument/2006/relationships/slide" Target="/ppt/slides/slide6.xml" Id="R8d00955318864cdf" /><Relationship Type="http://schemas.openxmlformats.org/officeDocument/2006/relationships/slide" Target="/ppt/slides/slide7.xml" Id="Ra771b4b1c8304af9" /><Relationship Type="http://schemas.openxmlformats.org/officeDocument/2006/relationships/slide" Target="/ppt/slides/slide8.xml" Id="R8a5e621bb7fe4f1f" /><Relationship Type="http://schemas.openxmlformats.org/officeDocument/2006/relationships/slide" Target="/ppt/slides/slide9.xml" Id="R7befc628cc184b45" /><Relationship Type="http://schemas.openxmlformats.org/officeDocument/2006/relationships/slide" Target="/ppt/slides/slide10.xml" Id="R3facde454f4e49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d1b42007d54476b"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da95c7fbb231496d" /><Relationship Type="http://schemas.openxmlformats.org/officeDocument/2006/relationships/slide" Target="/ppt/slides/slide1.xml" Id="Rab82ece50a144a12"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f72ff3b531a348dd" /><Relationship Type="http://schemas.openxmlformats.org/officeDocument/2006/relationships/slide" Target="/ppt/slides/slide2.xml" Id="R183a3c4eba944de0"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81dca4dbbd004bf4" /><Relationship Type="http://schemas.openxmlformats.org/officeDocument/2006/relationships/slide" Target="/ppt/slides/slide3.xml" Id="Rf57d048b3b3a44ad"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7e4715240caf4ca6" /><Relationship Type="http://schemas.openxmlformats.org/officeDocument/2006/relationships/slide" Target="/ppt/slides/slide4.xml" Id="R3f939109e48e4bbb"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0c27b9914e2644d8" /><Relationship Type="http://schemas.openxmlformats.org/officeDocument/2006/relationships/slide" Target="/ppt/slides/slide5.xml" Id="R6c0070d424ca4e4d"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1c69ccdc9b41485e" /><Relationship Type="http://schemas.openxmlformats.org/officeDocument/2006/relationships/slide" Target="/ppt/slides/slide6.xml" Id="R2a79c67cc7af483a"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8ee2b78ac0ac414f" /><Relationship Type="http://schemas.openxmlformats.org/officeDocument/2006/relationships/slide" Target="/ppt/slides/slide7.xml" Id="R24b73c1a6543461c"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50236a5d7da04857" /><Relationship Type="http://schemas.openxmlformats.org/officeDocument/2006/relationships/slide" Target="/ppt/slides/slide8.xml" Id="R1e8ac8a756644986"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5d53745c6cd54fb3" /><Relationship Type="http://schemas.openxmlformats.org/officeDocument/2006/relationships/slide" Target="/ppt/slides/slide9.xml" Id="R4a650810f13b407b"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39fec07edbbc41e6" /><Relationship Type="http://schemas.openxmlformats.org/officeDocument/2006/relationships/slide" Target="/ppt/slides/slide10.xml" Id="R6689666108fa45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 This presentation covers the IPL Data Analytics Dashboard project built using Python, Streamlit, Plotly, and Pandas on a ball-by-ball dataset of 18 IPL seasons.</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project objective is to build a rich analytics dashboard. The entire app — data loading, cleaning, analytics logic, and Streamlit UI — is contained in a single app.py file.</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dataset contains 295,732 ball-by-ball rows with 64 columns. Key columns include match identifiers, player names, delivery-level run and wicket data, venue information, and match result details.</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Most missing values are structurally expected — a wicket_kind is null because most deliveries are not wickets. Review columns are almost entirely empty as DRS data was inconsistently recorded. No problematic missingness was found in key analytical columns.</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batting page allows filtering by season and team. Virat Kohli is the all-time leading scorer. The scatter chart in the app visualises the runs vs balls relationship with bubble size representing sixes hit.</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Yuzvendra Chahal leads with 233 wickets. Caught is overwhelmingly the most common dismissal type in T20 cricket, reflecting the aggressive batting style with many aerial shots.</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Mumbai Indians are the most successful IPL franchise with 148 wins. The toss analysis clearly shows that teams choosing to field first after winning the toss win 53.7% of matches compared to 44.3% when batting first.</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Eden Gardens in Kolkata hosts the most matches. Wankhede in Mumbai and Chinnaswamy in Bangalore are consistently the highest-scoring grounds. UAE venues during the 2020 season returned lower averages due to slower pitches.</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over-by-over chart clearly shows three distinct phases of T20 cricket. Death overs produce run rates nearly double those of the middle overs. The app lets you compare this across individual teams to spot which franchises are strongest in each phase.</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Summary slide with all key findings. Remind the audience that the live interactive dashboard is accessible by running the streamlit command shown on screen.</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2e055e847746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faf8ce598940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12cddf7d5b45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64ee04bdb445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ecd4c6ef2a54a44"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4b3cd7ba30ce4f22"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ca1224ffb9c64759" /><Relationship Type="http://schemas.openxmlformats.org/officeDocument/2006/relationships/notesSlide" Target="/ppt/notesSlides/notesSlide1.xml" Id="Rbe2e9788970d44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ba96336fe5437a" /><Relationship Type="http://schemas.openxmlformats.org/officeDocument/2006/relationships/notesSlide" Target="/ppt/notesSlides/notesSlide2.xml" Id="R80b602d9364b41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ebde96bd864d73" /><Relationship Type="http://schemas.openxmlformats.org/officeDocument/2006/relationships/notesSlide" Target="/ppt/notesSlides/notesSlide3.xml" Id="R81acfe3947f44d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78006c0b1b4b7c" /><Relationship Type="http://schemas.openxmlformats.org/officeDocument/2006/relationships/notesSlide" Target="/ppt/notesSlides/notesSlide4.xml" Id="R1249275c044d44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cd2aa8c7184da3" /><Relationship Type="http://schemas.openxmlformats.org/officeDocument/2006/relationships/notesSlide" Target="/ppt/notesSlides/notesSlide5.xml" Id="R8bb2c86bd75246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de68ca722146e7" /><Relationship Type="http://schemas.openxmlformats.org/officeDocument/2006/relationships/notesSlide" Target="/ppt/notesSlides/notesSlide6.xml" Id="Re1adeea42b704e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08a5bf91224cd6" /><Relationship Type="http://schemas.openxmlformats.org/officeDocument/2006/relationships/notesSlide" Target="/ppt/notesSlides/notesSlide7.xml" Id="R0134a2927d0e4e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b1872160bd24ac3" /><Relationship Type="http://schemas.openxmlformats.org/officeDocument/2006/relationships/notesSlide" Target="/ppt/notesSlides/notesSlide8.xml" Id="R0bddd4b6e9c64b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f741cd35373479c" /><Relationship Type="http://schemas.openxmlformats.org/officeDocument/2006/relationships/notesSlide" Target="/ppt/notesSlides/notesSlide9.xml" Id="R4b7f602bf14543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14d819ba35412b" /><Relationship Type="http://schemas.openxmlformats.org/officeDocument/2006/relationships/notesSlide" Target="/ppt/notesSlides/notesSlide10.xml" Id="R474c16670dc74a2a" /></Relationships>
</file>

<file path=ppt/slides/slide1.xml><?xml version="1.0" encoding="utf-8"?>
<p:sld xmlns:p="http://schemas.openxmlformats.org/presentationml/2006/main">
  <p:cSld>
    <p:bg>
      <p:bgPr>
        <a:solidFill xmlns:a="http://schemas.openxmlformats.org/drawingml/2006/main">
          <a:srgbClr val="1A237E"/>
        </a:solidFill>
      </p:bgPr>
    </p:bg>
    <p:spTree>
      <p:nvGrpSpPr>
        <p:cNvPr id="1" name=""/>
        <p:cNvGrpSpPr/>
        <p:nvPr/>
      </p:nvGrpSpPr>
      <p:grpSpPr/>
      <p:sp>
        <p:nvSpPr>
          <p:cNvPr id="100000" name="Title"/>
          <p:cNvSpPr txBox="1"/>
          <p:nvPr/>
        </p:nvSpPr>
        <p:spPr>
          <a:xfrm xmlns:a="http://schemas.openxmlformats.org/drawingml/2006/main">
            <a:off x="540000" y="1800000"/>
            <a:ext cx="10800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4000" b="1">
                <a:solidFill>
                  <a:srgbClr val="FFFFFF"/>
                </a:solidFill>
                <a:latin typeface="Calibri"/>
                <a:ea typeface="Calibri"/>
              </a:rPr>
              <a:t>🏏 IPL Data Analytics Dashboard</a:t>
            </a:r>
          </a:p>
        </p:txBody>
      </p:sp>
      <p:sp>
        <p:nvSpPr>
          <p:cNvPr id="100001" name="Subtitle"/>
          <p:cNvSpPr txBox="1"/>
          <p:nvPr/>
        </p:nvSpPr>
        <p:spPr>
          <a:xfrm xmlns:a="http://schemas.openxmlformats.org/drawingml/2006/main">
            <a:off x="540000" y="342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2200" b="0">
                <a:solidFill>
                  <a:srgbClr val="90CAF9"/>
                </a:solidFill>
                <a:latin typeface="Calibri"/>
                <a:ea typeface="Calibri"/>
              </a:rPr>
              <a:t>Ball-by-Ball Analysis · 2008 – 2025 · 295,732 Deliveries</a:t>
            </a:r>
          </a:p>
        </p:txBody>
      </p:sp>
      <p:sp>
        <p:nvSpPr>
          <p:cNvPr id="100002" name="Meta"/>
          <p:cNvSpPr txBox="1"/>
          <p:nvPr/>
        </p:nvSpPr>
        <p:spPr>
          <a:xfrm xmlns:a="http://schemas.openxmlformats.org/drawingml/2006/main">
            <a:off x="540000" y="5760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400">
                <a:solidFill>
                  <a:srgbClr val="B0BEC5"/>
                </a:solidFill>
              </a:rPr>
              <a:t>Built with Python · Streamlit · Plotly · Pandas</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3" name="SlideTitle"/>
          <p:cNvSpPr txBox="1"/>
          <p:nvPr/>
        </p:nvSpPr>
        <p:spPr>
          <a:xfrm xmlns:a="http://schemas.openxmlformats.org/drawingml/2006/main">
            <a:off x="360000" y="180000"/>
            <a:ext cx="1116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A237E"/>
                </a:solidFill>
                <a:latin typeface="Calibri"/>
                <a:ea typeface="Calibri"/>
              </a:rPr>
              <a:t>📌 Project Overview</a:t>
            </a:r>
          </a:p>
        </p:txBody>
      </p:sp>
      <p:sp>
        <p:nvSpPr>
          <p:cNvPr id="100004" name="Divider"/>
          <p:cNvSpPr txBox="1"/>
          <p:nvPr/>
        </p:nvSpPr>
        <p:spPr>
          <a:xfrm xmlns:a="http://schemas.openxmlformats.org/drawingml/2006/main">
            <a:off x="360000" y="864000"/>
            <a:ext cx="11160000" cy="28800"/>
          </a:xfrm>
          <a:prstGeom xmlns:a="http://schemas.openxmlformats.org/drawingml/2006/main" prst="rect">
            <a:avLst/>
          </a:prstGeom>
          <a:solidFill xmlns:a="http://schemas.openxmlformats.org/drawingml/2006/main">
            <a:srgbClr val="1A237E"/>
          </a:solidFill>
        </p:spPr>
        <p:txBody>
          <a:bodyPr xmlns:a="http://schemas.openxmlformats.org/drawingml/2006/main"/>
          <a:lstStyle xmlns:a="http://schemas.openxmlformats.org/drawingml/2006/main"/>
          <a:p xmlns:a="http://schemas.openxmlformats.org/drawingml/2006/main">
            <a:endParaRPr lang="en-US" sz="100">
              <a:solidFill>
                <a:srgbClr val="1A237E"/>
              </a:solidFill>
            </a:endParaRPr>
          </a:p>
        </p:txBody>
      </p:sp>
      <p:sp>
        <p:nvSpPr>
          <p:cNvPr id="100005" name="Col1"/>
          <p:cNvSpPr txBox="1"/>
          <p:nvPr/>
        </p:nvSpPr>
        <p:spPr>
          <a:xfrm xmlns:a="http://schemas.openxmlformats.org/drawingml/2006/main">
            <a:off x="360000" y="1008000"/>
            <a:ext cx="522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1F2328"/>
                </a:solidFill>
                <a:latin typeface="Calibri"/>
                <a:ea typeface="Calibri"/>
              </a:rPr>
              <a:t>🎯 Objective</a:t>
            </a:r>
          </a:p>
          <a:p xmlns:a="http://schemas.openxmlformats.org/drawingml/2006/main">
            <a:r>
              <a:rPr lang="en-US" sz="1700">
                <a:solidFill>
                  <a:srgbClr val="1F2328"/>
                </a:solidFill>
                <a:latin typeface="Calibri"/>
                <a:ea typeface="Calibri"/>
              </a:rPr>
              <a:t/>
            </a:r>
          </a:p>
          <a:p xmlns:a="http://schemas.openxmlformats.org/drawingml/2006/main">
            <a:r>
              <a:rPr lang="en-US" sz="1700">
                <a:solidFill>
                  <a:srgbClr val="1F2328"/>
                </a:solidFill>
                <a:latin typeface="Calibri"/>
                <a:ea typeface="Calibri"/>
              </a:rPr>
              <a:t>Build an interactive analytics dashboard to explore IPL performance data across 18 seasons — from 2008 to 2025.</a:t>
            </a:r>
          </a:p>
          <a:p xmlns:a="http://schemas.openxmlformats.org/drawingml/2006/main">
            <a:r>
              <a:rPr lang="en-US" sz="1700">
                <a:solidFill>
                  <a:srgbClr val="1F2328"/>
                </a:solidFill>
                <a:latin typeface="Calibri"/>
                <a:ea typeface="Calibri"/>
              </a:rPr>
              <a:t/>
            </a:r>
          </a:p>
          <a:p xmlns:a="http://schemas.openxmlformats.org/drawingml/2006/main">
            <a:r>
              <a:rPr lang="en-US" sz="1700">
                <a:solidFill>
                  <a:srgbClr val="1F2328"/>
                </a:solidFill>
                <a:latin typeface="Calibri"/>
                <a:ea typeface="Calibri"/>
              </a:rPr>
              <a:t>📁 Single-File Architecture</a:t>
            </a:r>
          </a:p>
          <a:p xmlns:a="http://schemas.openxmlformats.org/drawingml/2006/main">
            <a:r>
              <a:rPr lang="en-US" sz="1700">
                <a:solidFill>
                  <a:srgbClr val="1F2328"/>
                </a:solidFill>
                <a:latin typeface="Calibri"/>
                <a:ea typeface="Calibri"/>
              </a:rPr>
              <a:t/>
            </a:r>
          </a:p>
          <a:p xmlns:a="http://schemas.openxmlformats.org/drawingml/2006/main">
            <a:r>
              <a:rPr lang="en-US" sz="1700">
                <a:solidFill>
                  <a:srgbClr val="1F2328"/>
                </a:solidFill>
                <a:latin typeface="Calibri"/>
                <a:ea typeface="Calibri"/>
              </a:rPr>
              <a:t>All backend analytics and Streamlit frontend code live in one file: app.py</a:t>
            </a:r>
          </a:p>
          <a:p xmlns:a="http://schemas.openxmlformats.org/drawingml/2006/main">
            <a:r>
              <a:rPr lang="en-US" sz="1700">
                <a:solidFill>
                  <a:srgbClr val="1F2328"/>
                </a:solidFill>
                <a:latin typeface="Calibri"/>
                <a:ea typeface="Calibri"/>
              </a:rPr>
              <a:t/>
            </a:r>
          </a:p>
          <a:p xmlns:a="http://schemas.openxmlformats.org/drawingml/2006/main">
            <a:r>
              <a:rPr lang="en-US" sz="1700">
                <a:solidFill>
                  <a:srgbClr val="1F2328"/>
                </a:solidFill>
                <a:latin typeface="Calibri"/>
                <a:ea typeface="Calibri"/>
              </a:rPr>
              <a:t>🔧 Tech Stack</a:t>
            </a:r>
          </a:p>
          <a:p xmlns:a="http://schemas.openxmlformats.org/drawingml/2006/main">
            <a:r>
              <a:rPr lang="en-US" sz="1700">
                <a:solidFill>
                  <a:srgbClr val="1F2328"/>
                </a:solidFill>
                <a:latin typeface="Calibri"/>
                <a:ea typeface="Calibri"/>
              </a:rPr>
              <a:t/>
            </a:r>
          </a:p>
          <a:p xmlns:a="http://schemas.openxmlformats.org/drawingml/2006/main">
            <a:r>
              <a:rPr lang="en-US" sz="1700">
                <a:solidFill>
                  <a:srgbClr val="1F2328"/>
                </a:solidFill>
                <a:latin typeface="Calibri"/>
                <a:ea typeface="Calibri"/>
              </a:rPr>
              <a:t>Python 3.9+</a:t>
            </a:r>
          </a:p>
          <a:p xmlns:a="http://schemas.openxmlformats.org/drawingml/2006/main">
            <a:r>
              <a:rPr lang="en-US" sz="1700">
                <a:solidFill>
                  <a:srgbClr val="1F2328"/>
                </a:solidFill>
                <a:latin typeface="Calibri"/>
                <a:ea typeface="Calibri"/>
              </a:rPr>
              <a:t>Streamlit 1.35+</a:t>
            </a:r>
          </a:p>
          <a:p xmlns:a="http://schemas.openxmlformats.org/drawingml/2006/main">
            <a:r>
              <a:rPr lang="en-US" sz="1700">
                <a:solidFill>
                  <a:srgbClr val="1F2328"/>
                </a:solidFill>
                <a:latin typeface="Calibri"/>
                <a:ea typeface="Calibri"/>
              </a:rPr>
              <a:t>Pandas 2.0+</a:t>
            </a:r>
          </a:p>
          <a:p xmlns:a="http://schemas.openxmlformats.org/drawingml/2006/main">
            <a:r>
              <a:rPr lang="en-US" sz="1700">
                <a:solidFill>
                  <a:srgbClr val="1F2328"/>
                </a:solidFill>
                <a:latin typeface="Calibri"/>
                <a:ea typeface="Calibri"/>
              </a:rPr>
              <a:t>Plotly 5.20+</a:t>
            </a:r>
          </a:p>
          <a:p xmlns:a="http://schemas.openxmlformats.org/drawingml/2006/main">
            <a:r>
              <a:rPr lang="en-US" sz="1700">
                <a:solidFill>
                  <a:srgbClr val="1F2328"/>
                </a:solidFill>
                <a:latin typeface="Calibri"/>
                <a:ea typeface="Calibri"/>
              </a:rPr>
              <a:t>NumPy 1.26+</a:t>
            </a:r>
          </a:p>
        </p:txBody>
      </p:sp>
      <p:sp>
        <p:nvSpPr>
          <p:cNvPr id="100006" name="Col2"/>
          <p:cNvSpPr txBox="1"/>
          <p:nvPr/>
        </p:nvSpPr>
        <p:spPr>
          <a:xfrm xmlns:a="http://schemas.openxmlformats.org/drawingml/2006/main">
            <a:off x="5940000" y="1008000"/>
            <a:ext cx="558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1F2328"/>
                </a:solidFill>
                <a:latin typeface="Calibri"/>
                <a:ea typeface="Calibri"/>
              </a:rPr>
              <a:t>📊 Dashboard Pages</a:t>
            </a:r>
          </a:p>
          <a:p xmlns:a="http://schemas.openxmlformats.org/drawingml/2006/main">
            <a:r>
              <a:rPr lang="en-US" sz="1700">
                <a:solidFill>
                  <a:srgbClr val="1F2328"/>
                </a:solidFill>
                <a:latin typeface="Calibri"/>
                <a:ea typeface="Calibri"/>
              </a:rPr>
              <a:t/>
            </a:r>
          </a:p>
          <a:p xmlns:a="http://schemas.openxmlformats.org/drawingml/2006/main">
            <a:r>
              <a:rPr lang="en-US" sz="1700">
                <a:solidFill>
                  <a:srgbClr val="1F2328"/>
                </a:solidFill>
                <a:latin typeface="Calibri"/>
                <a:ea typeface="Calibri"/>
              </a:rPr>
              <a:t>1  Overview — KPIs &amp; season trends</a:t>
            </a:r>
          </a:p>
          <a:p xmlns:a="http://schemas.openxmlformats.org/drawingml/2006/main">
            <a:r>
              <a:rPr lang="en-US" sz="1700">
                <a:solidFill>
                  <a:srgbClr val="1F2328"/>
                </a:solidFill>
                <a:latin typeface="Calibri"/>
                <a:ea typeface="Calibri"/>
              </a:rPr>
              <a:t>2  Data Quality — missing value audit</a:t>
            </a:r>
          </a:p>
          <a:p xmlns:a="http://schemas.openxmlformats.org/drawingml/2006/main">
            <a:r>
              <a:rPr lang="en-US" sz="1700">
                <a:solidFill>
                  <a:srgbClr val="1F2328"/>
                </a:solidFill>
                <a:latin typeface="Calibri"/>
                <a:ea typeface="Calibri"/>
              </a:rPr>
              <a:t>3  Batting — top scorers &amp; strike rates</a:t>
            </a:r>
          </a:p>
          <a:p xmlns:a="http://schemas.openxmlformats.org/drawingml/2006/main">
            <a:r>
              <a:rPr lang="en-US" sz="1700">
                <a:solidFill>
                  <a:srgbClr val="1F2328"/>
                </a:solidFill>
                <a:latin typeface="Calibri"/>
                <a:ea typeface="Calibri"/>
              </a:rPr>
              <a:t>4  Bowling — wickets &amp; economy rates</a:t>
            </a:r>
          </a:p>
          <a:p xmlns:a="http://schemas.openxmlformats.org/drawingml/2006/main">
            <a:r>
              <a:rPr lang="en-US" sz="1700">
                <a:solidFill>
                  <a:srgbClr val="1F2328"/>
                </a:solidFill>
                <a:latin typeface="Calibri"/>
                <a:ea typeface="Calibri"/>
              </a:rPr>
              <a:t>5  Teams — win counts &amp; toss impact</a:t>
            </a:r>
          </a:p>
          <a:p xmlns:a="http://schemas.openxmlformats.org/drawingml/2006/main">
            <a:r>
              <a:rPr lang="en-US" sz="1700">
                <a:solidFill>
                  <a:srgbClr val="1F2328"/>
                </a:solidFill>
                <a:latin typeface="Calibri"/>
                <a:ea typeface="Calibri"/>
              </a:rPr>
              <a:t>6  Venues — ground-by-ground analysis</a:t>
            </a:r>
          </a:p>
          <a:p xmlns:a="http://schemas.openxmlformats.org/drawingml/2006/main">
            <a:r>
              <a:rPr lang="en-US" sz="1700">
                <a:solidFill>
                  <a:srgbClr val="1F2328"/>
                </a:solidFill>
                <a:latin typeface="Calibri"/>
                <a:ea typeface="Calibri"/>
              </a:rPr>
              <a:t>7  Over Analysis — run rate phases</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7" name="SlideTitle"/>
          <p:cNvSpPr txBox="1"/>
          <p:nvPr/>
        </p:nvSpPr>
        <p:spPr>
          <a:xfrm xmlns:a="http://schemas.openxmlformats.org/drawingml/2006/main">
            <a:off x="360000" y="180000"/>
            <a:ext cx="1116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A237E"/>
                </a:solidFill>
                <a:latin typeface="Calibri"/>
                <a:ea typeface="Calibri"/>
              </a:rPr>
              <a:t>📂 Dataset Structure</a:t>
            </a:r>
          </a:p>
        </p:txBody>
      </p:sp>
      <p:sp>
        <p:nvSpPr>
          <p:cNvPr id="100008" name="Divider"/>
          <p:cNvSpPr txBox="1"/>
          <p:nvPr/>
        </p:nvSpPr>
        <p:spPr>
          <a:xfrm xmlns:a="http://schemas.openxmlformats.org/drawingml/2006/main">
            <a:off x="360000" y="864000"/>
            <a:ext cx="11160000" cy="28800"/>
          </a:xfrm>
          <a:prstGeom xmlns:a="http://schemas.openxmlformats.org/drawingml/2006/main" prst="rect">
            <a:avLst/>
          </a:prstGeom>
          <a:solidFill xmlns:a="http://schemas.openxmlformats.org/drawingml/2006/main">
            <a:srgbClr val="1A237E"/>
          </a:solidFill>
        </p:spPr>
        <p:txBody>
          <a:bodyPr xmlns:a="http://schemas.openxmlformats.org/drawingml/2006/main"/>
          <a:lstStyle xmlns:a="http://schemas.openxmlformats.org/drawingml/2006/main"/>
          <a:p xmlns:a="http://schemas.openxmlformats.org/drawingml/2006/main">
            <a:endParaRPr lang="en-US" sz="100">
              <a:solidFill>
                <a:srgbClr val="1A237E"/>
              </a:solidFill>
            </a:endParaRPr>
          </a:p>
        </p:txBody>
      </p:sp>
      <p:sp>
        <p:nvSpPr>
          <p:cNvPr id="100009" name="Stats"/>
          <p:cNvSpPr txBox="1"/>
          <p:nvPr/>
        </p:nvSpPr>
        <p:spPr>
          <a:xfrm xmlns:a="http://schemas.openxmlformats.org/drawingml/2006/main">
            <a:off x="360000" y="936000"/>
            <a:ext cx="1116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500" b="1">
                <a:solidFill>
                  <a:srgbClr val="1565C0"/>
                </a:solidFill>
              </a:rPr>
              <a:t>295,732 rows  ·  64 columns  ·  18 seasons  ·  19 franchises  ·  2008 – 2025</a:t>
            </a:r>
          </a:p>
        </p:txBody>
      </p:sp>
      <p:sp>
        <p:nvSpPr>
          <p:cNvPr id="100010" name="ColTable"/>
          <p:cNvSpPr txBox="1"/>
          <p:nvPr/>
        </p:nvSpPr>
        <p:spPr>
          <a:xfrm xmlns:a="http://schemas.openxmlformats.org/drawingml/2006/main">
            <a:off x="360000" y="1404000"/>
            <a:ext cx="11160000" cy="4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1F2328"/>
                </a:solidFill>
                <a:latin typeface="Courier New"/>
                <a:ea typeface="Courier New"/>
              </a:rPr>
              <a:t>Column              Type    Description</a:t>
            </a:r>
          </a:p>
          <a:p xmlns:a="http://schemas.openxmlformats.org/drawingml/2006/main">
            <a:r>
              <a:rPr lang="en-US" sz="1400">
                <a:solidFill>
                  <a:srgbClr val="1F2328"/>
                </a:solidFill>
                <a:latin typeface="Courier New"/>
                <a:ea typeface="Courier New"/>
              </a:rPr>
              <a:t>─────────────────────────────────────────────────────────────────</a:t>
            </a:r>
          </a:p>
          <a:p xmlns:a="http://schemas.openxmlformats.org/drawingml/2006/main">
            <a:r>
              <a:rPr lang="en-US" sz="1400">
                <a:solidFill>
                  <a:srgbClr val="1F2328"/>
                </a:solidFill>
                <a:latin typeface="Courier New"/>
                <a:ea typeface="Courier New"/>
              </a:rPr>
              <a:t>match_id            int     Unique match identifier</a:t>
            </a:r>
          </a:p>
          <a:p xmlns:a="http://schemas.openxmlformats.org/drawingml/2006/main">
            <a:r>
              <a:rPr lang="en-US" sz="1400">
                <a:solidFill>
                  <a:srgbClr val="1F2328"/>
                </a:solidFill>
                <a:latin typeface="Courier New"/>
                <a:ea typeface="Courier New"/>
              </a:rPr>
              <a:t>date                date    Match date (YYYY-MM-DD)</a:t>
            </a:r>
          </a:p>
          <a:p xmlns:a="http://schemas.openxmlformats.org/drawingml/2006/main">
            <a:r>
              <a:rPr lang="en-US" sz="1400">
                <a:solidFill>
                  <a:srgbClr val="1F2328"/>
                </a:solidFill>
                <a:latin typeface="Courier New"/>
                <a:ea typeface="Courier New"/>
              </a:rPr>
              <a:t>season              str     IPL season (e.g. 2007/08, 2023)</a:t>
            </a:r>
          </a:p>
          <a:p xmlns:a="http://schemas.openxmlformats.org/drawingml/2006/main">
            <a:r>
              <a:rPr lang="en-US" sz="1400">
                <a:solidFill>
                  <a:srgbClr val="1F2328"/>
                </a:solidFill>
                <a:latin typeface="Courier New"/>
                <a:ea typeface="Courier New"/>
              </a:rPr>
              <a:t>batting_team        str     Batting franchise name</a:t>
            </a:r>
          </a:p>
          <a:p xmlns:a="http://schemas.openxmlformats.org/drawingml/2006/main">
            <a:r>
              <a:rPr lang="en-US" sz="1400">
                <a:solidFill>
                  <a:srgbClr val="1F2328"/>
                </a:solidFill>
                <a:latin typeface="Courier New"/>
                <a:ea typeface="Courier New"/>
              </a:rPr>
              <a:t>bowler / batter     str     Player names</a:t>
            </a:r>
          </a:p>
          <a:p xmlns:a="http://schemas.openxmlformats.org/drawingml/2006/main">
            <a:r>
              <a:rPr lang="en-US" sz="1400">
                <a:solidFill>
                  <a:srgbClr val="1F2328"/>
                </a:solidFill>
                <a:latin typeface="Courier New"/>
                <a:ea typeface="Courier New"/>
              </a:rPr>
              <a:t>over / ball         int     Over (0-indexed) and ball number</a:t>
            </a:r>
          </a:p>
          <a:p xmlns:a="http://schemas.openxmlformats.org/drawingml/2006/main">
            <a:r>
              <a:rPr lang="en-US" sz="1400">
                <a:solidFill>
                  <a:srgbClr val="1F2328"/>
                </a:solidFill>
                <a:latin typeface="Courier New"/>
                <a:ea typeface="Courier New"/>
              </a:rPr>
              <a:t>runs_batter         int     Runs scored off the bat</a:t>
            </a:r>
          </a:p>
          <a:p xmlns:a="http://schemas.openxmlformats.org/drawingml/2006/main">
            <a:r>
              <a:rPr lang="en-US" sz="1400">
                <a:solidFill>
                  <a:srgbClr val="1F2328"/>
                </a:solidFill>
                <a:latin typeface="Courier New"/>
                <a:ea typeface="Courier New"/>
              </a:rPr>
              <a:t>runs_total          int     Total runs on the delivery</a:t>
            </a:r>
          </a:p>
          <a:p xmlns:a="http://schemas.openxmlformats.org/drawingml/2006/main">
            <a:r>
              <a:rPr lang="en-US" sz="1400">
                <a:solidFill>
                  <a:srgbClr val="1F2328"/>
                </a:solidFill>
                <a:latin typeface="Courier New"/>
                <a:ea typeface="Courier New"/>
              </a:rPr>
              <a:t>bowler_wicket       int     1 = wicket taken, 0 = not</a:t>
            </a:r>
          </a:p>
          <a:p xmlns:a="http://schemas.openxmlformats.org/drawingml/2006/main">
            <a:r>
              <a:rPr lang="en-US" sz="1400">
                <a:solidFill>
                  <a:srgbClr val="1F2328"/>
                </a:solidFill>
                <a:latin typeface="Courier New"/>
                <a:ea typeface="Courier New"/>
              </a:rPr>
              <a:t>wicket_kind         str     Dismissal type (caught, bowled …)</a:t>
            </a:r>
          </a:p>
          <a:p xmlns:a="http://schemas.openxmlformats.org/drawingml/2006/main">
            <a:r>
              <a:rPr lang="en-US" sz="1400">
                <a:solidFill>
                  <a:srgbClr val="1F2328"/>
                </a:solidFill>
                <a:latin typeface="Courier New"/>
                <a:ea typeface="Courier New"/>
              </a:rPr>
              <a:t>valid_ball          int     1 = legal delivery</a:t>
            </a:r>
          </a:p>
          <a:p xmlns:a="http://schemas.openxmlformats.org/drawingml/2006/main">
            <a:r>
              <a:rPr lang="en-US" sz="1400">
                <a:solidFill>
                  <a:srgbClr val="1F2328"/>
                </a:solidFill>
                <a:latin typeface="Courier New"/>
                <a:ea typeface="Courier New"/>
              </a:rPr>
              <a:t>venue / city        str     Ground name and city</a:t>
            </a:r>
          </a:p>
          <a:p xmlns:a="http://schemas.openxmlformats.org/drawingml/2006/main">
            <a:r>
              <a:rPr lang="en-US" sz="1400">
                <a:solidFill>
                  <a:srgbClr val="1F2328"/>
                </a:solidFill>
                <a:latin typeface="Courier New"/>
                <a:ea typeface="Courier New"/>
              </a:rPr>
              <a:t>toss_decision       str     bat or field</a:t>
            </a:r>
          </a:p>
          <a:p xmlns:a="http://schemas.openxmlformats.org/drawingml/2006/main">
            <a:r>
              <a:rPr lang="en-US" sz="1400">
                <a:solidFill>
                  <a:srgbClr val="1F2328"/>
                </a:solidFill>
                <a:latin typeface="Courier New"/>
                <a:ea typeface="Courier New"/>
              </a:rPr>
              <a:t>match_won_by        str     Winning team name</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1" name="SlideTitle"/>
          <p:cNvSpPr txBox="1"/>
          <p:nvPr/>
        </p:nvSpPr>
        <p:spPr>
          <a:xfrm xmlns:a="http://schemas.openxmlformats.org/drawingml/2006/main">
            <a:off x="360000" y="180000"/>
            <a:ext cx="1116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A237E"/>
                </a:solidFill>
                <a:latin typeface="Calibri"/>
                <a:ea typeface="Calibri"/>
              </a:rPr>
              <a:t>🔍 Data Quality Analysis</a:t>
            </a:r>
          </a:p>
        </p:txBody>
      </p:sp>
      <p:sp>
        <p:nvSpPr>
          <p:cNvPr id="100012" name="Divider"/>
          <p:cNvSpPr txBox="1"/>
          <p:nvPr/>
        </p:nvSpPr>
        <p:spPr>
          <a:xfrm xmlns:a="http://schemas.openxmlformats.org/drawingml/2006/main">
            <a:off x="360000" y="864000"/>
            <a:ext cx="11160000" cy="28800"/>
          </a:xfrm>
          <a:prstGeom xmlns:a="http://schemas.openxmlformats.org/drawingml/2006/main" prst="rect">
            <a:avLst/>
          </a:prstGeom>
          <a:solidFill xmlns:a="http://schemas.openxmlformats.org/drawingml/2006/main">
            <a:srgbClr val="1A237E"/>
          </a:solidFill>
        </p:spPr>
        <p:txBody>
          <a:bodyPr xmlns:a="http://schemas.openxmlformats.org/drawingml/2006/main"/>
          <a:lstStyle xmlns:a="http://schemas.openxmlformats.org/drawingml/2006/main"/>
          <a:p xmlns:a="http://schemas.openxmlformats.org/drawingml/2006/main">
            <a:endParaRPr lang="en-US" sz="100">
              <a:solidFill>
                <a:srgbClr val="1A237E"/>
              </a:solidFill>
            </a:endParaRPr>
          </a:p>
        </p:txBody>
      </p:sp>
      <p:sp>
        <p:nvSpPr>
          <p:cNvPr id="100013" name="Left"/>
          <p:cNvSpPr txBox="1"/>
          <p:nvPr/>
        </p:nvSpPr>
        <p:spPr>
          <a:xfrm xmlns:a="http://schemas.openxmlformats.org/drawingml/2006/main">
            <a:off x="360000" y="1008000"/>
            <a:ext cx="5760000" cy="43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1F2328"/>
                </a:solidFill>
                <a:latin typeface="Courier New"/>
                <a:ea typeface="Courier New"/>
              </a:rPr>
              <a:t>Missing Value Summary</a:t>
            </a:r>
          </a:p>
          <a:p xmlns:a="http://schemas.openxmlformats.org/drawingml/2006/main">
            <a:r>
              <a:rPr lang="en-US" sz="1500">
                <a:solidFill>
                  <a:srgbClr val="1F2328"/>
                </a:solidFill>
                <a:latin typeface="Courier New"/>
                <a:ea typeface="Courier New"/>
              </a:rPr>
              <a:t/>
            </a:r>
          </a:p>
          <a:p xmlns:a="http://schemas.openxmlformats.org/drawingml/2006/main">
            <a:r>
              <a:rPr lang="en-US" sz="1500">
                <a:solidFill>
                  <a:srgbClr val="1F2328"/>
                </a:solidFill>
                <a:latin typeface="Courier New"/>
                <a:ea typeface="Courier New"/>
              </a:rPr>
              <a:t>power_surge_start   ████████████  100.0%</a:t>
            </a:r>
          </a:p>
          <a:p xmlns:a="http://schemas.openxmlformats.org/drawingml/2006/main">
            <a:r>
              <a:rPr lang="en-US" sz="1500">
                <a:solidFill>
                  <a:srgbClr val="1F2328"/>
                </a:solidFill>
                <a:latin typeface="Courier New"/>
                <a:ea typeface="Courier New"/>
              </a:rPr>
              <a:t>review_batter       ████████████   99.7%</a:t>
            </a:r>
          </a:p>
          <a:p xmlns:a="http://schemas.openxmlformats.org/drawingml/2006/main">
            <a:r>
              <a:rPr lang="en-US" sz="1500">
                <a:solidFill>
                  <a:srgbClr val="1F2328"/>
                </a:solidFill>
                <a:latin typeface="Courier New"/>
                <a:ea typeface="Courier New"/>
              </a:rPr>
              <a:t>team_reviewed       ████████████   99.7%</a:t>
            </a:r>
          </a:p>
          <a:p xmlns:a="http://schemas.openxmlformats.org/drawingml/2006/main">
            <a:r>
              <a:rPr lang="en-US" sz="1500">
                <a:solidFill>
                  <a:srgbClr val="1F2328"/>
                </a:solidFill>
                <a:latin typeface="Courier New"/>
                <a:ea typeface="Courier New"/>
              </a:rPr>
              <a:t>review_decision     ████████████   99.7%</a:t>
            </a:r>
          </a:p>
          <a:p xmlns:a="http://schemas.openxmlformats.org/drawingml/2006/main">
            <a:r>
              <a:rPr lang="en-US" sz="1500">
                <a:solidFill>
                  <a:srgbClr val="1F2328"/>
                </a:solidFill>
                <a:latin typeface="Courier New"/>
                <a:ea typeface="Courier New"/>
              </a:rPr>
              <a:t>wicket_kind         ███████████    95.0%</a:t>
            </a:r>
          </a:p>
          <a:p xmlns:a="http://schemas.openxmlformats.org/drawingml/2006/main">
            <a:r>
              <a:rPr lang="en-US" sz="1500">
                <a:solidFill>
                  <a:srgbClr val="1F2328"/>
                </a:solidFill>
                <a:latin typeface="Courier New"/>
                <a:ea typeface="Courier New"/>
              </a:rPr>
              <a:t>extra_type          ███████████    94.5%</a:t>
            </a:r>
          </a:p>
          <a:p xmlns:a="http://schemas.openxmlformats.org/drawingml/2006/main">
            <a:r>
              <a:rPr lang="en-US" sz="1500">
                <a:solidFill>
                  <a:srgbClr val="1F2328"/>
                </a:solidFill>
                <a:latin typeface="Courier New"/>
                <a:ea typeface="Courier New"/>
              </a:rPr>
              <a:t>runs_target         ██████          51.9%</a:t>
            </a:r>
          </a:p>
          <a:p xmlns:a="http://schemas.openxmlformats.org/drawingml/2006/main">
            <a:r>
              <a:rPr lang="en-US" sz="1500">
                <a:solidFill>
                  <a:srgbClr val="1F2328"/>
                </a:solidFill>
                <a:latin typeface="Courier New"/>
                <a:ea typeface="Courier New"/>
              </a:rPr>
              <a:t>win_outcome         █               1.7%</a:t>
            </a:r>
          </a:p>
        </p:txBody>
      </p:sp>
      <p:sp>
        <p:nvSpPr>
          <p:cNvPr id="100014" name="Right"/>
          <p:cNvSpPr txBox="1"/>
          <p:nvPr/>
        </p:nvSpPr>
        <p:spPr>
          <a:xfrm xmlns:a="http://schemas.openxmlformats.org/drawingml/2006/main">
            <a:off x="6300000" y="1008000"/>
            <a:ext cx="5220000" cy="43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1F2328"/>
                </a:solidFill>
                <a:latin typeface="Calibri"/>
                <a:ea typeface="Calibri"/>
              </a:rPr>
              <a:t>Cleaning Steps Applied</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  Parsed date → datetime64</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  Normalised season to integer year</a:t>
            </a:r>
          </a:p>
          <a:p xmlns:a="http://schemas.openxmlformats.org/drawingml/2006/main">
            <a:r>
              <a:rPr lang="en-US" sz="1600">
                <a:solidFill>
                  <a:srgbClr val="1F2328"/>
                </a:solidFill>
                <a:latin typeface="Calibri"/>
                <a:ea typeface="Calibri"/>
              </a:rPr>
              <a:t>    '2007/08' and 2009 (int) both handled</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  Cast valid_ball, striker_out,</a:t>
            </a:r>
          </a:p>
          <a:p xmlns:a="http://schemas.openxmlformats.org/drawingml/2006/main">
            <a:r>
              <a:rPr lang="en-US" sz="1600">
                <a:solidFill>
                  <a:srgbClr val="1F2328"/>
                </a:solidFill>
                <a:latin typeface="Calibri"/>
                <a:ea typeface="Calibri"/>
              </a:rPr>
              <a:t>    runs_not_boundary to numeric</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  Structurally-missing columns</a:t>
            </a:r>
          </a:p>
          <a:p xmlns:a="http://schemas.openxmlformats.org/drawingml/2006/main">
            <a:r>
              <a:rPr lang="en-US" sz="1600">
                <a:solidFill>
                  <a:srgbClr val="1F2328"/>
                </a:solidFill>
                <a:latin typeface="Calibri"/>
                <a:ea typeface="Calibri"/>
              </a:rPr>
              <a:t>    (wicket_kind, extra_type) left as</a:t>
            </a:r>
          </a:p>
          <a:p xmlns:a="http://schemas.openxmlformats.org/drawingml/2006/main">
            <a:r>
              <a:rPr lang="en-US" sz="1600">
                <a:solidFill>
                  <a:srgbClr val="1F2328"/>
                </a:solidFill>
                <a:latin typeface="Calibri"/>
                <a:ea typeface="Calibri"/>
              </a:rPr>
              <a:t>    NaN — no imputation needed</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  &gt;99% missing columns preserved</a:t>
            </a:r>
          </a:p>
          <a:p xmlns:a="http://schemas.openxmlformats.org/drawingml/2006/main">
            <a:r>
              <a:rPr lang="en-US" sz="1600">
                <a:solidFill>
                  <a:srgbClr val="1F2328"/>
                </a:solidFill>
                <a:latin typeface="Calibri"/>
                <a:ea typeface="Calibri"/>
              </a:rPr>
              <a:t>    but excluded from analytics</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5" name="SlideTitle"/>
          <p:cNvSpPr txBox="1"/>
          <p:nvPr/>
        </p:nvSpPr>
        <p:spPr>
          <a:xfrm xmlns:a="http://schemas.openxmlformats.org/drawingml/2006/main">
            <a:off x="360000" y="180000"/>
            <a:ext cx="1116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A237E"/>
                </a:solidFill>
                <a:latin typeface="Calibri"/>
                <a:ea typeface="Calibri"/>
              </a:rPr>
              <a:t>🏏 Batting Analysis</a:t>
            </a:r>
          </a:p>
        </p:txBody>
      </p:sp>
      <p:sp>
        <p:nvSpPr>
          <p:cNvPr id="100016" name="Divider"/>
          <p:cNvSpPr txBox="1"/>
          <p:nvPr/>
        </p:nvSpPr>
        <p:spPr>
          <a:xfrm xmlns:a="http://schemas.openxmlformats.org/drawingml/2006/main">
            <a:off x="360000" y="864000"/>
            <a:ext cx="11160000" cy="28800"/>
          </a:xfrm>
          <a:prstGeom xmlns:a="http://schemas.openxmlformats.org/drawingml/2006/main" prst="rect">
            <a:avLst/>
          </a:prstGeom>
          <a:solidFill xmlns:a="http://schemas.openxmlformats.org/drawingml/2006/main">
            <a:srgbClr val="1A237E"/>
          </a:solidFill>
        </p:spPr>
        <p:txBody>
          <a:bodyPr xmlns:a="http://schemas.openxmlformats.org/drawingml/2006/main"/>
          <a:lstStyle xmlns:a="http://schemas.openxmlformats.org/drawingml/2006/main"/>
          <a:p xmlns:a="http://schemas.openxmlformats.org/drawingml/2006/main">
            <a:endParaRPr lang="en-US" sz="100">
              <a:solidFill>
                <a:srgbClr val="1A237E"/>
              </a:solidFill>
            </a:endParaRPr>
          </a:p>
        </p:txBody>
      </p:sp>
      <p:sp>
        <p:nvSpPr>
          <p:cNvPr id="100017" name="Table"/>
          <p:cNvSpPr txBox="1"/>
          <p:nvPr/>
        </p:nvSpPr>
        <p:spPr>
          <a:xfrm xmlns:a="http://schemas.openxmlformats.org/drawingml/2006/main">
            <a:off x="360000" y="1008000"/>
            <a:ext cx="7200000" cy="39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1F2328"/>
                </a:solidFill>
                <a:latin typeface="Courier New"/>
                <a:ea typeface="Courier New"/>
              </a:rPr>
              <a:t>All-Time Top 10 Run Scorers</a:t>
            </a:r>
          </a:p>
          <a:p xmlns:a="http://schemas.openxmlformats.org/drawingml/2006/main">
            <a:r>
              <a:rPr lang="en-US" sz="1500">
                <a:solidFill>
                  <a:srgbClr val="1F2328"/>
                </a:solidFill>
                <a:latin typeface="Courier New"/>
                <a:ea typeface="Courier New"/>
              </a:rPr>
              <a:t/>
            </a:r>
          </a:p>
          <a:p xmlns:a="http://schemas.openxmlformats.org/drawingml/2006/main">
            <a:r>
              <a:rPr lang="en-US" sz="1500">
                <a:solidFill>
                  <a:srgbClr val="1F2328"/>
                </a:solidFill>
                <a:latin typeface="Courier New"/>
                <a:ea typeface="Courier New"/>
              </a:rPr>
              <a:t>Rank  Batter           Runs    SR      4s    6s</a:t>
            </a:r>
          </a:p>
          <a:p xmlns:a="http://schemas.openxmlformats.org/drawingml/2006/main">
            <a:r>
              <a:rPr lang="en-US" sz="1500">
                <a:solidFill>
                  <a:srgbClr val="1F2328"/>
                </a:solidFill>
                <a:latin typeface="Courier New"/>
                <a:ea typeface="Courier New"/>
              </a:rPr>
              <a:t>────────────────────────────────────────────────</a:t>
            </a:r>
          </a:p>
          <a:p xmlns:a="http://schemas.openxmlformats.org/drawingml/2006/main">
            <a:r>
              <a:rPr lang="en-US" sz="1500">
                <a:solidFill>
                  <a:srgbClr val="1F2328"/>
                </a:solidFill>
                <a:latin typeface="Courier New"/>
                <a:ea typeface="Courier New"/>
              </a:rPr>
              <a:t>1     V Kohli          9,346   131.0   836   211</a:t>
            </a:r>
          </a:p>
          <a:p xmlns:a="http://schemas.openxmlformats.org/drawingml/2006/main">
            <a:r>
              <a:rPr lang="en-US" sz="1500">
                <a:solidFill>
                  <a:srgbClr val="1F2328"/>
                </a:solidFill>
                <a:latin typeface="Courier New"/>
                <a:ea typeface="Courier New"/>
              </a:rPr>
              <a:t>2     RG Sharma        7,331   133.7   692   249</a:t>
            </a:r>
          </a:p>
          <a:p xmlns:a="http://schemas.openxmlformats.org/drawingml/2006/main">
            <a:r>
              <a:rPr lang="en-US" sz="1500">
                <a:solidFill>
                  <a:srgbClr val="1F2328"/>
                </a:solidFill>
                <a:latin typeface="Courier New"/>
                <a:ea typeface="Courier New"/>
              </a:rPr>
              <a:t>3     S Dhawan         6,769   128.5   767    85</a:t>
            </a:r>
          </a:p>
          <a:p xmlns:a="http://schemas.openxmlformats.org/drawingml/2006/main">
            <a:r>
              <a:rPr lang="en-US" sz="1500">
                <a:solidFill>
                  <a:srgbClr val="1F2328"/>
                </a:solidFill>
                <a:latin typeface="Courier New"/>
                <a:ea typeface="Courier New"/>
              </a:rPr>
              <a:t>4     DA Warner        6,567   141.8   704   198</a:t>
            </a:r>
          </a:p>
          <a:p xmlns:a="http://schemas.openxmlformats.org/drawingml/2006/main">
            <a:r>
              <a:rPr lang="en-US" sz="1500">
                <a:solidFill>
                  <a:srgbClr val="1F2328"/>
                </a:solidFill>
                <a:latin typeface="Courier New"/>
                <a:ea typeface="Courier New"/>
              </a:rPr>
              <a:t>5     KL Rahul         5,828   137.7   529   168</a:t>
            </a:r>
          </a:p>
          <a:p xmlns:a="http://schemas.openxmlformats.org/drawingml/2006/main">
            <a:r>
              <a:rPr lang="en-US" sz="1500">
                <a:solidFill>
                  <a:srgbClr val="1F2328"/>
                </a:solidFill>
                <a:latin typeface="Courier New"/>
                <a:ea typeface="Courier New"/>
              </a:rPr>
              <a:t>6     SK Raina         5,528   137.1   482   181</a:t>
            </a:r>
          </a:p>
          <a:p xmlns:a="http://schemas.openxmlformats.org/drawingml/2006/main">
            <a:r>
              <a:rPr lang="en-US" sz="1500">
                <a:solidFill>
                  <a:srgbClr val="1F2328"/>
                </a:solidFill>
                <a:latin typeface="Courier New"/>
                <a:ea typeface="Courier New"/>
              </a:rPr>
              <a:t>7     AB de Villiers   5,162   154.6   416   231</a:t>
            </a:r>
          </a:p>
          <a:p xmlns:a="http://schemas.openxmlformats.org/drawingml/2006/main">
            <a:r>
              <a:rPr lang="en-US" sz="1500">
                <a:solidFill>
                  <a:srgbClr val="1F2328"/>
                </a:solidFill>
                <a:latin typeface="Courier New"/>
                <a:ea typeface="Courier New"/>
              </a:rPr>
              <a:t>8     MS Dhoni         5,082   136.7   349   225</a:t>
            </a:r>
          </a:p>
          <a:p xmlns:a="http://schemas.openxmlformats.org/drawingml/2006/main">
            <a:r>
              <a:rPr lang="en-US" sz="1500">
                <a:solidFill>
                  <a:srgbClr val="1F2328"/>
                </a:solidFill>
                <a:latin typeface="Courier New"/>
                <a:ea typeface="Courier New"/>
              </a:rPr>
              <a:t>9     RR Pant          4,271   149.3   369   181</a:t>
            </a:r>
          </a:p>
          <a:p xmlns:a="http://schemas.openxmlformats.org/drawingml/2006/main">
            <a:r>
              <a:rPr lang="en-US" sz="1500">
                <a:solidFill>
                  <a:srgbClr val="1F2328"/>
                </a:solidFill>
                <a:latin typeface="Courier New"/>
                <a:ea typeface="Courier New"/>
              </a:rPr>
              <a:t>10    CH Gayle         4,965   152.3   308   350</a:t>
            </a:r>
          </a:p>
        </p:txBody>
      </p:sp>
      <p:sp>
        <p:nvSpPr>
          <p:cNvPr id="100018" name="Insight"/>
          <p:cNvSpPr txBox="1"/>
          <p:nvPr/>
        </p:nvSpPr>
        <p:spPr>
          <a:xfrm xmlns:a="http://schemas.openxmlformats.org/drawingml/2006/main">
            <a:off x="7920000" y="1008000"/>
            <a:ext cx="3780000" cy="39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1F2328"/>
                </a:solidFill>
                <a:latin typeface="Calibri"/>
                <a:ea typeface="Calibri"/>
              </a:rPr>
              <a:t>Key Insights</a:t>
            </a:r>
          </a:p>
          <a:p xmlns:a="http://schemas.openxmlformats.org/drawingml/2006/main">
            <a:r>
              <a:rPr lang="en-US" sz="1500">
                <a:solidFill>
                  <a:srgbClr val="1F2328"/>
                </a:solidFill>
                <a:latin typeface="Calibri"/>
                <a:ea typeface="Calibri"/>
              </a:rPr>
              <a:t/>
            </a:r>
          </a:p>
          <a:p xmlns:a="http://schemas.openxmlformats.org/drawingml/2006/main">
            <a:r>
              <a:rPr lang="en-US" sz="1500">
                <a:solidFill>
                  <a:srgbClr val="1F2328"/>
                </a:solidFill>
                <a:latin typeface="Calibri"/>
                <a:ea typeface="Calibri"/>
              </a:rPr>
              <a:t>🔹 V Kohli dominates with 9,346 runs — 27% more than #2</a:t>
            </a:r>
          </a:p>
          <a:p xmlns:a="http://schemas.openxmlformats.org/drawingml/2006/main">
            <a:r>
              <a:rPr lang="en-US" sz="1500">
                <a:solidFill>
                  <a:srgbClr val="1F2328"/>
                </a:solidFill>
                <a:latin typeface="Calibri"/>
                <a:ea typeface="Calibri"/>
              </a:rPr>
              <a:t/>
            </a:r>
          </a:p>
          <a:p xmlns:a="http://schemas.openxmlformats.org/drawingml/2006/main">
            <a:r>
              <a:rPr lang="en-US" sz="1500">
                <a:solidFill>
                  <a:srgbClr val="1F2328"/>
                </a:solidFill>
                <a:latin typeface="Calibri"/>
                <a:ea typeface="Calibri"/>
              </a:rPr>
              <a:t>🔹 AB de Villiers holds the best SR (154.6) among top 10</a:t>
            </a:r>
          </a:p>
          <a:p xmlns:a="http://schemas.openxmlformats.org/drawingml/2006/main">
            <a:r>
              <a:rPr lang="en-US" sz="1500">
                <a:solidFill>
                  <a:srgbClr val="1F2328"/>
                </a:solidFill>
                <a:latin typeface="Calibri"/>
                <a:ea typeface="Calibri"/>
              </a:rPr>
              <a:t/>
            </a:r>
          </a:p>
          <a:p xmlns:a="http://schemas.openxmlformats.org/drawingml/2006/main">
            <a:r>
              <a:rPr lang="en-US" sz="1500">
                <a:solidFill>
                  <a:srgbClr val="1F2328"/>
                </a:solidFill>
                <a:latin typeface="Calibri"/>
                <a:ea typeface="Calibri"/>
              </a:rPr>
              <a:t>🔹 CH Gayle leads in sixes (350) by a wide margin</a:t>
            </a:r>
          </a:p>
          <a:p xmlns:a="http://schemas.openxmlformats.org/drawingml/2006/main">
            <a:r>
              <a:rPr lang="en-US" sz="1500">
                <a:solidFill>
                  <a:srgbClr val="1F2328"/>
                </a:solidFill>
                <a:latin typeface="Calibri"/>
                <a:ea typeface="Calibri"/>
              </a:rPr>
              <a:t/>
            </a:r>
          </a:p>
          <a:p xmlns:a="http://schemas.openxmlformats.org/drawingml/2006/main">
            <a:r>
              <a:rPr lang="en-US" sz="1500">
                <a:solidFill>
                  <a:srgbClr val="1F2328"/>
                </a:solidFill>
                <a:latin typeface="Calibri"/>
                <a:ea typeface="Calibri"/>
              </a:rPr>
              <a:t>🔹 Filter by season or team using sidebar controls in the dashboard</a:t>
            </a:r>
          </a:p>
        </p:txBody>
      </p:sp>
    </p:spTree>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9" name="SlideTitle"/>
          <p:cNvSpPr txBox="1"/>
          <p:nvPr/>
        </p:nvSpPr>
        <p:spPr>
          <a:xfrm xmlns:a="http://schemas.openxmlformats.org/drawingml/2006/main">
            <a:off x="360000" y="180000"/>
            <a:ext cx="1116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A237E"/>
                </a:solidFill>
                <a:latin typeface="Calibri"/>
                <a:ea typeface="Calibri"/>
              </a:rPr>
              <a:t>🎳 Bowling Analysis</a:t>
            </a:r>
          </a:p>
        </p:txBody>
      </p:sp>
      <p:sp>
        <p:nvSpPr>
          <p:cNvPr id="100020" name="Divider"/>
          <p:cNvSpPr txBox="1"/>
          <p:nvPr/>
        </p:nvSpPr>
        <p:spPr>
          <a:xfrm xmlns:a="http://schemas.openxmlformats.org/drawingml/2006/main">
            <a:off x="360000" y="864000"/>
            <a:ext cx="11160000" cy="28800"/>
          </a:xfrm>
          <a:prstGeom xmlns:a="http://schemas.openxmlformats.org/drawingml/2006/main" prst="rect">
            <a:avLst/>
          </a:prstGeom>
          <a:solidFill xmlns:a="http://schemas.openxmlformats.org/drawingml/2006/main">
            <a:srgbClr val="1A237E"/>
          </a:solidFill>
        </p:spPr>
        <p:txBody>
          <a:bodyPr xmlns:a="http://schemas.openxmlformats.org/drawingml/2006/main"/>
          <a:lstStyle xmlns:a="http://schemas.openxmlformats.org/drawingml/2006/main"/>
          <a:p xmlns:a="http://schemas.openxmlformats.org/drawingml/2006/main">
            <a:endParaRPr lang="en-US" sz="100">
              <a:solidFill>
                <a:srgbClr val="1A237E"/>
              </a:solidFill>
            </a:endParaRPr>
          </a:p>
        </p:txBody>
      </p:sp>
      <p:sp>
        <p:nvSpPr>
          <p:cNvPr id="100021" name="Table"/>
          <p:cNvSpPr txBox="1"/>
          <p:nvPr/>
        </p:nvSpPr>
        <p:spPr>
          <a:xfrm xmlns:a="http://schemas.openxmlformats.org/drawingml/2006/main">
            <a:off x="360000" y="1008000"/>
            <a:ext cx="6840000" cy="39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1F2328"/>
                </a:solidFill>
                <a:latin typeface="Courier New"/>
                <a:ea typeface="Courier New"/>
              </a:rPr>
              <a:t>All-Time Top Wicket Takers</a:t>
            </a:r>
          </a:p>
          <a:p xmlns:a="http://schemas.openxmlformats.org/drawingml/2006/main">
            <a:r>
              <a:rPr lang="en-US" sz="1500">
                <a:solidFill>
                  <a:srgbClr val="1F2328"/>
                </a:solidFill>
                <a:latin typeface="Courier New"/>
                <a:ea typeface="Courier New"/>
              </a:rPr>
              <a:t/>
            </a:r>
          </a:p>
          <a:p xmlns:a="http://schemas.openxmlformats.org/drawingml/2006/main">
            <a:r>
              <a:rPr lang="en-US" sz="1500">
                <a:solidFill>
                  <a:srgbClr val="1F2328"/>
                </a:solidFill>
                <a:latin typeface="Courier New"/>
                <a:ea typeface="Courier New"/>
              </a:rPr>
              <a:t>Rank  Bowler           Wkts  Economy</a:t>
            </a:r>
          </a:p>
          <a:p xmlns:a="http://schemas.openxmlformats.org/drawingml/2006/main">
            <a:r>
              <a:rPr lang="en-US" sz="1500">
                <a:solidFill>
                  <a:srgbClr val="1F2328"/>
                </a:solidFill>
                <a:latin typeface="Courier New"/>
                <a:ea typeface="Courier New"/>
              </a:rPr>
              <a:t>──────────────────────────────────────</a:t>
            </a:r>
          </a:p>
          <a:p xmlns:a="http://schemas.openxmlformats.org/drawingml/2006/main">
            <a:r>
              <a:rPr lang="en-US" sz="1500">
                <a:solidFill>
                  <a:srgbClr val="1F2328"/>
                </a:solidFill>
                <a:latin typeface="Courier New"/>
                <a:ea typeface="Courier New"/>
              </a:rPr>
              <a:t>1     YS Chahal         233    8.1</a:t>
            </a:r>
          </a:p>
          <a:p xmlns:a="http://schemas.openxmlformats.org/drawingml/2006/main">
            <a:r>
              <a:rPr lang="en-US" sz="1500">
                <a:solidFill>
                  <a:srgbClr val="1F2328"/>
                </a:solidFill>
                <a:latin typeface="Courier New"/>
                <a:ea typeface="Courier New"/>
              </a:rPr>
              <a:t>2     B Kumar           226    7.4</a:t>
            </a:r>
          </a:p>
          <a:p xmlns:a="http://schemas.openxmlformats.org/drawingml/2006/main">
            <a:r>
              <a:rPr lang="en-US" sz="1500">
                <a:solidFill>
                  <a:srgbClr val="1F2328"/>
                </a:solidFill>
                <a:latin typeface="Courier New"/>
                <a:ea typeface="Courier New"/>
              </a:rPr>
              <a:t>3     SP Narine         209    6.7</a:t>
            </a:r>
          </a:p>
          <a:p xmlns:a="http://schemas.openxmlformats.org/drawingml/2006/main">
            <a:r>
              <a:rPr lang="en-US" sz="1500">
                <a:solidFill>
                  <a:srgbClr val="1F2328"/>
                </a:solidFill>
                <a:latin typeface="Courier New"/>
                <a:ea typeface="Courier New"/>
              </a:rPr>
              <a:t>4     PP Chawla         192    8.0</a:t>
            </a:r>
          </a:p>
          <a:p xmlns:a="http://schemas.openxmlformats.org/drawingml/2006/main">
            <a:r>
              <a:rPr lang="en-US" sz="1500">
                <a:solidFill>
                  <a:srgbClr val="1F2328"/>
                </a:solidFill>
                <a:latin typeface="Courier New"/>
                <a:ea typeface="Courier New"/>
              </a:rPr>
              <a:t>5     JJ Bumrah         190    7.4</a:t>
            </a:r>
          </a:p>
          <a:p xmlns:a="http://schemas.openxmlformats.org/drawingml/2006/main">
            <a:r>
              <a:rPr lang="en-US" sz="1500">
                <a:solidFill>
                  <a:srgbClr val="1F2328"/>
                </a:solidFill>
                <a:latin typeface="Courier New"/>
                <a:ea typeface="Courier New"/>
              </a:rPr>
              <a:t>6     A Mishra          172    7.6</a:t>
            </a:r>
          </a:p>
          <a:p xmlns:a="http://schemas.openxmlformats.org/drawingml/2006/main">
            <a:r>
              <a:rPr lang="en-US" sz="1500">
                <a:solidFill>
                  <a:srgbClr val="1F2328"/>
                </a:solidFill>
                <a:latin typeface="Courier New"/>
                <a:ea typeface="Courier New"/>
              </a:rPr>
              <a:t>7     HH Pandya         157    8.5</a:t>
            </a:r>
          </a:p>
          <a:p xmlns:a="http://schemas.openxmlformats.org/drawingml/2006/main">
            <a:r>
              <a:rPr lang="en-US" sz="1500">
                <a:solidFill>
                  <a:srgbClr val="1F2328"/>
                </a:solidFill>
                <a:latin typeface="Courier New"/>
                <a:ea typeface="Courier New"/>
              </a:rPr>
              <a:t>8     RA Jadeja         155    7.8</a:t>
            </a:r>
          </a:p>
          <a:p xmlns:a="http://schemas.openxmlformats.org/drawingml/2006/main">
            <a:r>
              <a:rPr lang="en-US" sz="1500">
                <a:solidFill>
                  <a:srgbClr val="1F2328"/>
                </a:solidFill>
                <a:latin typeface="Courier New"/>
                <a:ea typeface="Courier New"/>
              </a:rPr>
              <a:t>9     DL Chahar         121    8.3</a:t>
            </a:r>
          </a:p>
          <a:p xmlns:a="http://schemas.openxmlformats.org/drawingml/2006/main">
            <a:r>
              <a:rPr lang="en-US" sz="1500">
                <a:solidFill>
                  <a:srgbClr val="1F2328"/>
                </a:solidFill>
                <a:latin typeface="Courier New"/>
                <a:ea typeface="Courier New"/>
              </a:rPr>
              <a:t>10    Rashid Khan       119    6.5</a:t>
            </a:r>
          </a:p>
        </p:txBody>
      </p:sp>
      <p:sp>
        <p:nvSpPr>
          <p:cNvPr id="100022" name="Wicket"/>
          <p:cNvSpPr txBox="1"/>
          <p:nvPr/>
        </p:nvSpPr>
        <p:spPr>
          <a:xfrm xmlns:a="http://schemas.openxmlformats.org/drawingml/2006/main">
            <a:off x="7560000" y="1008000"/>
            <a:ext cx="3960000" cy="39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1F2328"/>
                </a:solidFill>
                <a:latin typeface="Calibri"/>
                <a:ea typeface="Calibri"/>
              </a:rPr>
              <a:t>Wicket Type Distribution</a:t>
            </a:r>
          </a:p>
          <a:p xmlns:a="http://schemas.openxmlformats.org/drawingml/2006/main">
            <a:r>
              <a:rPr lang="en-US" sz="1500">
                <a:solidFill>
                  <a:srgbClr val="1F2328"/>
                </a:solidFill>
                <a:latin typeface="Calibri"/>
                <a:ea typeface="Calibri"/>
              </a:rPr>
              <a:t/>
            </a:r>
          </a:p>
          <a:p xmlns:a="http://schemas.openxmlformats.org/drawingml/2006/main">
            <a:r>
              <a:rPr lang="en-US" sz="1500">
                <a:solidFill>
                  <a:srgbClr val="1F2328"/>
                </a:solidFill>
                <a:latin typeface="Calibri"/>
                <a:ea typeface="Calibri"/>
              </a:rPr>
              <a:t>🥇 Caught            ~57%</a:t>
            </a:r>
          </a:p>
          <a:p xmlns:a="http://schemas.openxmlformats.org/drawingml/2006/main">
            <a:r>
              <a:rPr lang="en-US" sz="1500">
                <a:solidFill>
                  <a:srgbClr val="1F2328"/>
                </a:solidFill>
                <a:latin typeface="Calibri"/>
                <a:ea typeface="Calibri"/>
              </a:rPr>
              <a:t>🥈 Bowled            ~16%</a:t>
            </a:r>
          </a:p>
          <a:p xmlns:a="http://schemas.openxmlformats.org/drawingml/2006/main">
            <a:r>
              <a:rPr lang="en-US" sz="1500">
                <a:solidFill>
                  <a:srgbClr val="1F2328"/>
                </a:solidFill>
                <a:latin typeface="Calibri"/>
                <a:ea typeface="Calibri"/>
              </a:rPr>
              <a:t>🥉 Run Out            ~9%</a:t>
            </a:r>
          </a:p>
          <a:p xmlns:a="http://schemas.openxmlformats.org/drawingml/2006/main">
            <a:r>
              <a:rPr lang="en-US" sz="1500">
                <a:solidFill>
                  <a:srgbClr val="1F2328"/>
                </a:solidFill>
                <a:latin typeface="Calibri"/>
                <a:ea typeface="Calibri"/>
              </a:rPr>
              <a:t>LBW                   ~9%</a:t>
            </a:r>
          </a:p>
          <a:p xmlns:a="http://schemas.openxmlformats.org/drawingml/2006/main">
            <a:r>
              <a:rPr lang="en-US" sz="1500">
                <a:solidFill>
                  <a:srgbClr val="1F2328"/>
                </a:solidFill>
                <a:latin typeface="Calibri"/>
                <a:ea typeface="Calibri"/>
              </a:rPr>
              <a:t>Stumped               ~5%</a:t>
            </a:r>
          </a:p>
          <a:p xmlns:a="http://schemas.openxmlformats.org/drawingml/2006/main">
            <a:r>
              <a:rPr lang="en-US" sz="1500">
                <a:solidFill>
                  <a:srgbClr val="1F2328"/>
                </a:solidFill>
                <a:latin typeface="Calibri"/>
                <a:ea typeface="Calibri"/>
              </a:rPr>
              <a:t>Caught &amp; Bowled       ~2%</a:t>
            </a:r>
          </a:p>
          <a:p xmlns:a="http://schemas.openxmlformats.org/drawingml/2006/main">
            <a:r>
              <a:rPr lang="en-US" sz="1500">
                <a:solidFill>
                  <a:srgbClr val="1F2328"/>
                </a:solidFill>
                <a:latin typeface="Calibri"/>
                <a:ea typeface="Calibri"/>
              </a:rPr>
              <a:t>Others                ~2%</a:t>
            </a:r>
          </a:p>
          <a:p xmlns:a="http://schemas.openxmlformats.org/drawingml/2006/main">
            <a:r>
              <a:rPr lang="en-US" sz="1500">
                <a:solidFill>
                  <a:srgbClr val="1F2328"/>
                </a:solidFill>
                <a:latin typeface="Calibri"/>
                <a:ea typeface="Calibri"/>
              </a:rPr>
              <a:t/>
            </a:r>
          </a:p>
          <a:p xmlns:a="http://schemas.openxmlformats.org/drawingml/2006/main">
            <a:r>
              <a:rPr lang="en-US" sz="1500">
                <a:solidFill>
                  <a:srgbClr val="1F2328"/>
                </a:solidFill>
                <a:latin typeface="Calibri"/>
                <a:ea typeface="Calibri"/>
              </a:rPr>
              <a:t>💡 'Caught' dominates — T20 aggressive batting leads to more aerial shots</a:t>
            </a:r>
          </a:p>
        </p:txBody>
      </p:sp>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3" name="SlideTitle"/>
          <p:cNvSpPr txBox="1"/>
          <p:nvPr/>
        </p:nvSpPr>
        <p:spPr>
          <a:xfrm xmlns:a="http://schemas.openxmlformats.org/drawingml/2006/main">
            <a:off x="360000" y="180000"/>
            <a:ext cx="1116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A237E"/>
                </a:solidFill>
                <a:latin typeface="Calibri"/>
                <a:ea typeface="Calibri"/>
              </a:rPr>
              <a:t>🏆 Team &amp; Toss Analysis</a:t>
            </a:r>
          </a:p>
        </p:txBody>
      </p:sp>
      <p:sp>
        <p:nvSpPr>
          <p:cNvPr id="100024" name="Divider"/>
          <p:cNvSpPr txBox="1"/>
          <p:nvPr/>
        </p:nvSpPr>
        <p:spPr>
          <a:xfrm xmlns:a="http://schemas.openxmlformats.org/drawingml/2006/main">
            <a:off x="360000" y="864000"/>
            <a:ext cx="11160000" cy="28800"/>
          </a:xfrm>
          <a:prstGeom xmlns:a="http://schemas.openxmlformats.org/drawingml/2006/main" prst="rect">
            <a:avLst/>
          </a:prstGeom>
          <a:solidFill xmlns:a="http://schemas.openxmlformats.org/drawingml/2006/main">
            <a:srgbClr val="1A237E"/>
          </a:solidFill>
        </p:spPr>
        <p:txBody>
          <a:bodyPr xmlns:a="http://schemas.openxmlformats.org/drawingml/2006/main"/>
          <a:lstStyle xmlns:a="http://schemas.openxmlformats.org/drawingml/2006/main"/>
          <a:p xmlns:a="http://schemas.openxmlformats.org/drawingml/2006/main">
            <a:endParaRPr lang="en-US" sz="100">
              <a:solidFill>
                <a:srgbClr val="1A237E"/>
              </a:solidFill>
            </a:endParaRPr>
          </a:p>
        </p:txBody>
      </p:sp>
      <p:sp>
        <p:nvSpPr>
          <p:cNvPr id="100025" name="WinsTable"/>
          <p:cNvSpPr txBox="1"/>
          <p:nvPr/>
        </p:nvSpPr>
        <p:spPr>
          <a:xfrm xmlns:a="http://schemas.openxmlformats.org/drawingml/2006/main">
            <a:off x="360000" y="1008000"/>
            <a:ext cx="5760000" cy="43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1F2328"/>
                </a:solidFill>
                <a:latin typeface="Courier New"/>
                <a:ea typeface="Courier New"/>
              </a:rPr>
              <a:t>All-Time Win Leaders</a:t>
            </a:r>
          </a:p>
          <a:p xmlns:a="http://schemas.openxmlformats.org/drawingml/2006/main">
            <a:r>
              <a:rPr lang="en-US" sz="1600">
                <a:solidFill>
                  <a:srgbClr val="1F2328"/>
                </a:solidFill>
                <a:latin typeface="Courier New"/>
                <a:ea typeface="Courier New"/>
              </a:rPr>
              <a:t/>
            </a:r>
          </a:p>
          <a:p xmlns:a="http://schemas.openxmlformats.org/drawingml/2006/main">
            <a:r>
              <a:rPr lang="en-US" sz="1600">
                <a:solidFill>
                  <a:srgbClr val="1F2328"/>
                </a:solidFill>
                <a:latin typeface="Courier New"/>
                <a:ea typeface="Courier New"/>
              </a:rPr>
              <a:t>Team                       Wins</a:t>
            </a:r>
          </a:p>
          <a:p xmlns:a="http://schemas.openxmlformats.org/drawingml/2006/main">
            <a:r>
              <a:rPr lang="en-US" sz="1600">
                <a:solidFill>
                  <a:srgbClr val="1F2328"/>
                </a:solidFill>
                <a:latin typeface="Courier New"/>
                <a:ea typeface="Courier New"/>
              </a:rPr>
              <a:t>──────────────────────────────────</a:t>
            </a:r>
          </a:p>
          <a:p xmlns:a="http://schemas.openxmlformats.org/drawingml/2006/main">
            <a:r>
              <a:rPr lang="en-US" sz="1600">
                <a:solidFill>
                  <a:srgbClr val="1F2328"/>
                </a:solidFill>
                <a:latin typeface="Courier New"/>
                <a:ea typeface="Courier New"/>
              </a:rPr>
              <a:t>Mumbai Indians              148</a:t>
            </a:r>
          </a:p>
          <a:p xmlns:a="http://schemas.openxmlformats.org/drawingml/2006/main">
            <a:r>
              <a:rPr lang="en-US" sz="1600">
                <a:solidFill>
                  <a:srgbClr val="1F2328"/>
                </a:solidFill>
                <a:latin typeface="Courier New"/>
                <a:ea typeface="Courier New"/>
              </a:rPr>
              <a:t>Chennai Super Kings         131</a:t>
            </a:r>
          </a:p>
          <a:p xmlns:a="http://schemas.openxmlformats.org/drawingml/2006/main">
            <a:r>
              <a:rPr lang="en-US" sz="1600">
                <a:solidFill>
                  <a:srgbClr val="1F2328"/>
                </a:solidFill>
                <a:latin typeface="Courier New"/>
                <a:ea typeface="Courier New"/>
              </a:rPr>
              <a:t>Kolkata Knight Riders       115</a:t>
            </a:r>
          </a:p>
          <a:p xmlns:a="http://schemas.openxmlformats.org/drawingml/2006/main">
            <a:r>
              <a:rPr lang="en-US" sz="1600">
                <a:solidFill>
                  <a:srgbClr val="1F2328"/>
                </a:solidFill>
                <a:latin typeface="Courier New"/>
                <a:ea typeface="Courier New"/>
              </a:rPr>
              <a:t>Royal Challengers Bglr      107</a:t>
            </a:r>
          </a:p>
          <a:p xmlns:a="http://schemas.openxmlformats.org/drawingml/2006/main">
            <a:r>
              <a:rPr lang="en-US" sz="1600">
                <a:solidFill>
                  <a:srgbClr val="1F2328"/>
                </a:solidFill>
                <a:latin typeface="Courier New"/>
                <a:ea typeface="Courier New"/>
              </a:rPr>
              <a:t>Sunrisers Hyderabad          91</a:t>
            </a:r>
          </a:p>
          <a:p xmlns:a="http://schemas.openxmlformats.org/drawingml/2006/main">
            <a:r>
              <a:rPr lang="en-US" sz="1600">
                <a:solidFill>
                  <a:srgbClr val="1F2328"/>
                </a:solidFill>
                <a:latin typeface="Courier New"/>
                <a:ea typeface="Courier New"/>
              </a:rPr>
              <a:t>Rajasthan Royals             85</a:t>
            </a:r>
          </a:p>
          <a:p xmlns:a="http://schemas.openxmlformats.org/drawingml/2006/main">
            <a:r>
              <a:rPr lang="en-US" sz="1600">
                <a:solidFill>
                  <a:srgbClr val="1F2328"/>
                </a:solidFill>
                <a:latin typeface="Courier New"/>
                <a:ea typeface="Courier New"/>
              </a:rPr>
              <a:t>Delhi Capitals               84</a:t>
            </a:r>
          </a:p>
          <a:p xmlns:a="http://schemas.openxmlformats.org/drawingml/2006/main">
            <a:r>
              <a:rPr lang="en-US" sz="1600">
                <a:solidFill>
                  <a:srgbClr val="1F2328"/>
                </a:solidFill>
                <a:latin typeface="Courier New"/>
                <a:ea typeface="Courier New"/>
              </a:rPr>
              <a:t>Kings XI Punjab / PBKS       74</a:t>
            </a:r>
          </a:p>
          <a:p xmlns:a="http://schemas.openxmlformats.org/drawingml/2006/main">
            <a:r>
              <a:rPr lang="en-US" sz="1600">
                <a:solidFill>
                  <a:srgbClr val="1F2328"/>
                </a:solidFill>
                <a:latin typeface="Courier New"/>
                <a:ea typeface="Courier New"/>
              </a:rPr>
              <a:t>Deccan Chargers              36</a:t>
            </a:r>
          </a:p>
          <a:p xmlns:a="http://schemas.openxmlformats.org/drawingml/2006/main">
            <a:r>
              <a:rPr lang="en-US" sz="1600">
                <a:solidFill>
                  <a:srgbClr val="1F2328"/>
                </a:solidFill>
                <a:latin typeface="Courier New"/>
                <a:ea typeface="Courier New"/>
              </a:rPr>
              <a:t>Gujarat Titans               34</a:t>
            </a:r>
          </a:p>
        </p:txBody>
      </p:sp>
      <p:sp>
        <p:nvSpPr>
          <p:cNvPr id="100026" name="TossBox"/>
          <p:cNvSpPr txBox="1"/>
          <p:nvPr/>
        </p:nvSpPr>
        <p:spPr>
          <a:xfrm xmlns:a="http://schemas.openxmlformats.org/drawingml/2006/main">
            <a:off x="6300000" y="1008000"/>
            <a:ext cx="5220000" cy="43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1F2328"/>
                </a:solidFill>
                <a:latin typeface="Calibri"/>
                <a:ea typeface="Calibri"/>
              </a:rPr>
              <a:t>Toss Decision Impact</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Decision    Wins    Total   Win %</a:t>
            </a:r>
          </a:p>
          <a:p xmlns:a="http://schemas.openxmlformats.org/drawingml/2006/main">
            <a:r>
              <a:rPr lang="en-US" sz="1600">
                <a:solidFill>
                  <a:srgbClr val="1F2328"/>
                </a:solidFill>
                <a:latin typeface="Calibri"/>
                <a:ea typeface="Calibri"/>
              </a:rPr>
              <a:t>──────────────────────────────────</a:t>
            </a:r>
          </a:p>
          <a:p xmlns:a="http://schemas.openxmlformats.org/drawingml/2006/main">
            <a:r>
              <a:rPr lang="en-US" sz="1600">
                <a:solidFill>
                  <a:srgbClr val="1F2328"/>
                </a:solidFill>
                <a:latin typeface="Calibri"/>
                <a:ea typeface="Calibri"/>
              </a:rPr>
              <a:t>Field        443      825   53.7%</a:t>
            </a:r>
          </a:p>
          <a:p xmlns:a="http://schemas.openxmlformats.org/drawingml/2006/main">
            <a:r>
              <a:rPr lang="en-US" sz="1600">
                <a:solidFill>
                  <a:srgbClr val="1F2328"/>
                </a:solidFill>
                <a:latin typeface="Calibri"/>
                <a:ea typeface="Calibri"/>
              </a:rPr>
              <a:t>Bat          185      418   44.3%</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 Teams that elect to FIELD after winning the toss win 53.7% of matches vs 44.3% when batting first.</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  Chasing has a consistent advantage in T20 cricket — dew factor, pitch data, and a known target all contribute.</a:t>
            </a:r>
          </a:p>
        </p:txBody>
      </p:sp>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7" name="SlideTitle"/>
          <p:cNvSpPr txBox="1"/>
          <p:nvPr/>
        </p:nvSpPr>
        <p:spPr>
          <a:xfrm xmlns:a="http://schemas.openxmlformats.org/drawingml/2006/main">
            <a:off x="360000" y="180000"/>
            <a:ext cx="1116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A237E"/>
                </a:solidFill>
                <a:latin typeface="Calibri"/>
                <a:ea typeface="Calibri"/>
              </a:rPr>
              <a:t>🏟️ Venue Analysis</a:t>
            </a:r>
          </a:p>
        </p:txBody>
      </p:sp>
      <p:sp>
        <p:nvSpPr>
          <p:cNvPr id="100028" name="Divider"/>
          <p:cNvSpPr txBox="1"/>
          <p:nvPr/>
        </p:nvSpPr>
        <p:spPr>
          <a:xfrm xmlns:a="http://schemas.openxmlformats.org/drawingml/2006/main">
            <a:off x="360000" y="864000"/>
            <a:ext cx="11160000" cy="28800"/>
          </a:xfrm>
          <a:prstGeom xmlns:a="http://schemas.openxmlformats.org/drawingml/2006/main" prst="rect">
            <a:avLst/>
          </a:prstGeom>
          <a:solidFill xmlns:a="http://schemas.openxmlformats.org/drawingml/2006/main">
            <a:srgbClr val="1A237E"/>
          </a:solidFill>
        </p:spPr>
        <p:txBody>
          <a:bodyPr xmlns:a="http://schemas.openxmlformats.org/drawingml/2006/main"/>
          <a:lstStyle xmlns:a="http://schemas.openxmlformats.org/drawingml/2006/main"/>
          <a:p xmlns:a="http://schemas.openxmlformats.org/drawingml/2006/main">
            <a:endParaRPr lang="en-US" sz="100">
              <a:solidFill>
                <a:srgbClr val="1A237E"/>
              </a:solidFill>
            </a:endParaRPr>
          </a:p>
        </p:txBody>
      </p:sp>
      <p:sp>
        <p:nvSpPr>
          <p:cNvPr id="100029" name="VenueTable"/>
          <p:cNvSpPr txBox="1"/>
          <p:nvPr/>
        </p:nvSpPr>
        <p:spPr>
          <a:xfrm xmlns:a="http://schemas.openxmlformats.org/drawingml/2006/main">
            <a:off x="360000" y="1008000"/>
            <a:ext cx="7920000" cy="43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1F2328"/>
                </a:solidFill>
                <a:latin typeface="Courier New"/>
                <a:ea typeface="Courier New"/>
              </a:rPr>
              <a:t>Top Venues by Matches Hosted</a:t>
            </a:r>
          </a:p>
          <a:p xmlns:a="http://schemas.openxmlformats.org/drawingml/2006/main">
            <a:r>
              <a:rPr lang="en-US" sz="1400">
                <a:solidFill>
                  <a:srgbClr val="1F2328"/>
                </a:solidFill>
                <a:latin typeface="Courier New"/>
                <a:ea typeface="Courier New"/>
              </a:rPr>
              <a:t/>
            </a:r>
          </a:p>
          <a:p xmlns:a="http://schemas.openxmlformats.org/drawingml/2006/main">
            <a:r>
              <a:rPr lang="en-US" sz="1400">
                <a:solidFill>
                  <a:srgbClr val="1F2328"/>
                </a:solidFill>
                <a:latin typeface="Courier New"/>
                <a:ea typeface="Courier New"/>
              </a:rPr>
              <a:t>Venue                          Matches  Avg 1st Inn</a:t>
            </a:r>
          </a:p>
          <a:p xmlns:a="http://schemas.openxmlformats.org/drawingml/2006/main">
            <a:r>
              <a:rPr lang="en-US" sz="1400">
                <a:solidFill>
                  <a:srgbClr val="1F2328"/>
                </a:solidFill>
                <a:latin typeface="Courier New"/>
                <a:ea typeface="Courier New"/>
              </a:rPr>
              <a:t>───────────────────────────────────────────────────</a:t>
            </a:r>
          </a:p>
          <a:p xmlns:a="http://schemas.openxmlformats.org/drawingml/2006/main">
            <a:r>
              <a:rPr lang="en-US" sz="1400">
                <a:solidFill>
                  <a:srgbClr val="1F2328"/>
                </a:solidFill>
                <a:latin typeface="Courier New"/>
                <a:ea typeface="Courier New"/>
              </a:rPr>
              <a:t>Eden Gardens                      93      162.3</a:t>
            </a:r>
          </a:p>
          <a:p xmlns:a="http://schemas.openxmlformats.org/drawingml/2006/main">
            <a:r>
              <a:rPr lang="en-US" sz="1400">
                <a:solidFill>
                  <a:srgbClr val="1F2328"/>
                </a:solidFill>
                <a:latin typeface="Courier New"/>
                <a:ea typeface="Courier New"/>
              </a:rPr>
              <a:t>Wankhede Stadium                  87      178.9</a:t>
            </a:r>
          </a:p>
          <a:p xmlns:a="http://schemas.openxmlformats.org/drawingml/2006/main">
            <a:r>
              <a:rPr lang="en-US" sz="1400">
                <a:solidFill>
                  <a:srgbClr val="1F2328"/>
                </a:solidFill>
                <a:latin typeface="Courier New"/>
                <a:ea typeface="Courier New"/>
              </a:rPr>
              <a:t>M Chinnaswamy Stadium             82      175.4</a:t>
            </a:r>
          </a:p>
          <a:p xmlns:a="http://schemas.openxmlformats.org/drawingml/2006/main">
            <a:r>
              <a:rPr lang="en-US" sz="1400">
                <a:solidFill>
                  <a:srgbClr val="1F2328"/>
                </a:solidFill>
                <a:latin typeface="Courier New"/>
                <a:ea typeface="Courier New"/>
              </a:rPr>
              <a:t>Feroz Shah Kotla / ACA-VDCA       78      162.7</a:t>
            </a:r>
          </a:p>
          <a:p xmlns:a="http://schemas.openxmlformats.org/drawingml/2006/main">
            <a:r>
              <a:rPr lang="en-US" sz="1400">
                <a:solidFill>
                  <a:srgbClr val="1F2328"/>
                </a:solidFill>
                <a:latin typeface="Courier New"/>
                <a:ea typeface="Courier New"/>
              </a:rPr>
              <a:t>MA Chidambaram Stadium            72      158.1</a:t>
            </a:r>
          </a:p>
          <a:p xmlns:a="http://schemas.openxmlformats.org/drawingml/2006/main">
            <a:r>
              <a:rPr lang="en-US" sz="1400">
                <a:solidFill>
                  <a:srgbClr val="1F2328"/>
                </a:solidFill>
                <a:latin typeface="Courier New"/>
                <a:ea typeface="Courier New"/>
              </a:rPr>
              <a:t>Rajiv Gandhi Intl Stadium         68      161.8</a:t>
            </a:r>
          </a:p>
          <a:p xmlns:a="http://schemas.openxmlformats.org/drawingml/2006/main">
            <a:r>
              <a:rPr lang="en-US" sz="1400">
                <a:solidFill>
                  <a:srgbClr val="1F2328"/>
                </a:solidFill>
                <a:latin typeface="Courier New"/>
                <a:ea typeface="Courier New"/>
              </a:rPr>
              <a:t>Punjab Cricket Association        61      170.2</a:t>
            </a:r>
          </a:p>
          <a:p xmlns:a="http://schemas.openxmlformats.org/drawingml/2006/main">
            <a:r>
              <a:rPr lang="en-US" sz="1400">
                <a:solidFill>
                  <a:srgbClr val="1F2328"/>
                </a:solidFill>
                <a:latin typeface="Courier New"/>
                <a:ea typeface="Courier New"/>
              </a:rPr>
              <a:t>Sawai Mansingh Stadium            58      163.0</a:t>
            </a:r>
          </a:p>
          <a:p xmlns:a="http://schemas.openxmlformats.org/drawingml/2006/main">
            <a:r>
              <a:rPr lang="en-US" sz="1400">
                <a:solidFill>
                  <a:srgbClr val="1F2328"/>
                </a:solidFill>
                <a:latin typeface="Courier New"/>
                <a:ea typeface="Courier New"/>
              </a:rPr>
              <a:t>Dubai International Stadium       55      155.2</a:t>
            </a:r>
          </a:p>
          <a:p xmlns:a="http://schemas.openxmlformats.org/drawingml/2006/main">
            <a:r>
              <a:rPr lang="en-US" sz="1400">
                <a:solidFill>
                  <a:srgbClr val="1F2328"/>
                </a:solidFill>
                <a:latin typeface="Courier New"/>
                <a:ea typeface="Courier New"/>
              </a:rPr>
              <a:t>Abu Dhabi (Sheikh Zayed)          48      151.7</a:t>
            </a:r>
          </a:p>
        </p:txBody>
      </p:sp>
      <p:sp>
        <p:nvSpPr>
          <p:cNvPr id="100030" name="VenueInsight"/>
          <p:cNvSpPr txBox="1"/>
          <p:nvPr/>
        </p:nvSpPr>
        <p:spPr>
          <a:xfrm xmlns:a="http://schemas.openxmlformats.org/drawingml/2006/main">
            <a:off x="8640000" y="1008000"/>
            <a:ext cx="3240000" cy="43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1F2328"/>
                </a:solidFill>
                <a:latin typeface="Calibri"/>
                <a:ea typeface="Calibri"/>
              </a:rPr>
              <a:t>Ground Insights</a:t>
            </a:r>
          </a:p>
          <a:p xmlns:a="http://schemas.openxmlformats.org/drawingml/2006/main">
            <a:r>
              <a:rPr lang="en-US" sz="1500">
                <a:solidFill>
                  <a:srgbClr val="1F2328"/>
                </a:solidFill>
                <a:latin typeface="Calibri"/>
                <a:ea typeface="Calibri"/>
              </a:rPr>
              <a:t/>
            </a:r>
          </a:p>
          <a:p xmlns:a="http://schemas.openxmlformats.org/drawingml/2006/main">
            <a:r>
              <a:rPr lang="en-US" sz="1500">
                <a:solidFill>
                  <a:srgbClr val="1F2328"/>
                </a:solidFill>
                <a:latin typeface="Calibri"/>
                <a:ea typeface="Calibri"/>
              </a:rPr>
              <a:t>🏟️ Eden Gardens hosts the most matches (93)</a:t>
            </a:r>
          </a:p>
          <a:p xmlns:a="http://schemas.openxmlformats.org/drawingml/2006/main">
            <a:r>
              <a:rPr lang="en-US" sz="1500">
                <a:solidFill>
                  <a:srgbClr val="1F2328"/>
                </a:solidFill>
                <a:latin typeface="Calibri"/>
                <a:ea typeface="Calibri"/>
              </a:rPr>
              <a:t/>
            </a:r>
          </a:p>
          <a:p xmlns:a="http://schemas.openxmlformats.org/drawingml/2006/main">
            <a:r>
              <a:rPr lang="en-US" sz="1500">
                <a:solidFill>
                  <a:srgbClr val="1F2328"/>
                </a:solidFill>
                <a:latin typeface="Calibri"/>
                <a:ea typeface="Calibri"/>
              </a:rPr>
              <a:t>🔥 Wankhede (178.9) and Chinnaswamy (175.4) are the highest-scoring grounds</a:t>
            </a:r>
          </a:p>
          <a:p xmlns:a="http://schemas.openxmlformats.org/drawingml/2006/main">
            <a:r>
              <a:rPr lang="en-US" sz="1500">
                <a:solidFill>
                  <a:srgbClr val="1F2328"/>
                </a:solidFill>
                <a:latin typeface="Calibri"/>
                <a:ea typeface="Calibri"/>
              </a:rPr>
              <a:t/>
            </a:r>
          </a:p>
          <a:p xmlns:a="http://schemas.openxmlformats.org/drawingml/2006/main">
            <a:r>
              <a:rPr lang="en-US" sz="1500">
                <a:solidFill>
                  <a:srgbClr val="1F2328"/>
                </a:solidFill>
                <a:latin typeface="Calibri"/>
                <a:ea typeface="Calibri"/>
              </a:rPr>
              <a:t>❄️ UAE venues (Dubai / Abu Dhabi) return lower average scores — slower pitches</a:t>
            </a:r>
          </a:p>
          <a:p xmlns:a="http://schemas.openxmlformats.org/drawingml/2006/main">
            <a:r>
              <a:rPr lang="en-US" sz="1500">
                <a:solidFill>
                  <a:srgbClr val="1F2328"/>
                </a:solidFill>
                <a:latin typeface="Calibri"/>
                <a:ea typeface="Calibri"/>
              </a:rPr>
              <a:t/>
            </a:r>
          </a:p>
          <a:p xmlns:a="http://schemas.openxmlformats.org/drawingml/2006/main">
            <a:r>
              <a:rPr lang="en-US" sz="1500">
                <a:solidFill>
                  <a:srgbClr val="1F2328"/>
                </a:solidFill>
                <a:latin typeface="Calibri"/>
                <a:ea typeface="Calibri"/>
              </a:rPr>
              <a:t>📌 Dashboard allows filtering run rates per ground</a:t>
            </a:r>
          </a:p>
        </p:txBody>
      </p:sp>
    </p:spTree>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31" name="SlideTitle"/>
          <p:cNvSpPr txBox="1"/>
          <p:nvPr/>
        </p:nvSpPr>
        <p:spPr>
          <a:xfrm xmlns:a="http://schemas.openxmlformats.org/drawingml/2006/main">
            <a:off x="360000" y="180000"/>
            <a:ext cx="1116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1A237E"/>
                </a:solidFill>
                <a:latin typeface="Calibri"/>
                <a:ea typeface="Calibri"/>
              </a:rPr>
              <a:t>📈 Over-by-Over Run Rate</a:t>
            </a:r>
          </a:p>
        </p:txBody>
      </p:sp>
      <p:sp>
        <p:nvSpPr>
          <p:cNvPr id="100032" name="Divider"/>
          <p:cNvSpPr txBox="1"/>
          <p:nvPr/>
        </p:nvSpPr>
        <p:spPr>
          <a:xfrm xmlns:a="http://schemas.openxmlformats.org/drawingml/2006/main">
            <a:off x="360000" y="864000"/>
            <a:ext cx="11160000" cy="28800"/>
          </a:xfrm>
          <a:prstGeom xmlns:a="http://schemas.openxmlformats.org/drawingml/2006/main" prst="rect">
            <a:avLst/>
          </a:prstGeom>
          <a:solidFill xmlns:a="http://schemas.openxmlformats.org/drawingml/2006/main">
            <a:srgbClr val="1A237E"/>
          </a:solidFill>
        </p:spPr>
        <p:txBody>
          <a:bodyPr xmlns:a="http://schemas.openxmlformats.org/drawingml/2006/main"/>
          <a:lstStyle xmlns:a="http://schemas.openxmlformats.org/drawingml/2006/main"/>
          <a:p xmlns:a="http://schemas.openxmlformats.org/drawingml/2006/main">
            <a:endParaRPr lang="en-US" sz="100">
              <a:solidFill>
                <a:srgbClr val="1A237E"/>
              </a:solidFill>
            </a:endParaRPr>
          </a:p>
        </p:txBody>
      </p:sp>
      <p:sp>
        <p:nvSpPr>
          <p:cNvPr id="100033" name="RRTable"/>
          <p:cNvSpPr txBox="1"/>
          <p:nvPr/>
        </p:nvSpPr>
        <p:spPr>
          <a:xfrm xmlns:a="http://schemas.openxmlformats.org/drawingml/2006/main">
            <a:off x="360000" y="1008000"/>
            <a:ext cx="576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1F2328"/>
                </a:solidFill>
                <a:latin typeface="Courier New"/>
                <a:ea typeface="Courier New"/>
              </a:rPr>
              <a:t>Average Runs Per Over — All Teams</a:t>
            </a:r>
          </a:p>
          <a:p xmlns:a="http://schemas.openxmlformats.org/drawingml/2006/main">
            <a:r>
              <a:rPr lang="en-US" sz="1400">
                <a:solidFill>
                  <a:srgbClr val="1F2328"/>
                </a:solidFill>
                <a:latin typeface="Courier New"/>
                <a:ea typeface="Courier New"/>
              </a:rPr>
              <a:t/>
            </a:r>
          </a:p>
          <a:p xmlns:a="http://schemas.openxmlformats.org/drawingml/2006/main">
            <a:r>
              <a:rPr lang="en-US" sz="1400">
                <a:solidFill>
                  <a:srgbClr val="1F2328"/>
                </a:solidFill>
                <a:latin typeface="Courier New"/>
                <a:ea typeface="Courier New"/>
              </a:rPr>
              <a:t>Over   Avg RPO   Phase</a:t>
            </a:r>
          </a:p>
          <a:p xmlns:a="http://schemas.openxmlformats.org/drawingml/2006/main">
            <a:r>
              <a:rPr lang="en-US" sz="1400">
                <a:solidFill>
                  <a:srgbClr val="1F2328"/>
                </a:solidFill>
                <a:latin typeface="Courier New"/>
                <a:ea typeface="Courier New"/>
              </a:rPr>
              <a:t>─────────────────────────────────────</a:t>
            </a:r>
          </a:p>
          <a:p xmlns:a="http://schemas.openxmlformats.org/drawingml/2006/main">
            <a:r>
              <a:rPr lang="en-US" sz="1400">
                <a:solidFill>
                  <a:srgbClr val="1F2328"/>
                </a:solidFill>
                <a:latin typeface="Courier New"/>
                <a:ea typeface="Courier New"/>
              </a:rPr>
              <a:t>1       7.1      Powerplay</a:t>
            </a:r>
          </a:p>
          <a:p xmlns:a="http://schemas.openxmlformats.org/drawingml/2006/main">
            <a:r>
              <a:rPr lang="en-US" sz="1400">
                <a:solidFill>
                  <a:srgbClr val="1F2328"/>
                </a:solidFill>
                <a:latin typeface="Courier New"/>
                <a:ea typeface="Courier New"/>
              </a:rPr>
              <a:t>2       7.9      Powerplay</a:t>
            </a:r>
          </a:p>
          <a:p xmlns:a="http://schemas.openxmlformats.org/drawingml/2006/main">
            <a:r>
              <a:rPr lang="en-US" sz="1400">
                <a:solidFill>
                  <a:srgbClr val="1F2328"/>
                </a:solidFill>
                <a:latin typeface="Courier New"/>
                <a:ea typeface="Courier New"/>
              </a:rPr>
              <a:t>3       7.6      Powerplay</a:t>
            </a:r>
          </a:p>
          <a:p xmlns:a="http://schemas.openxmlformats.org/drawingml/2006/main">
            <a:r>
              <a:rPr lang="en-US" sz="1400">
                <a:solidFill>
                  <a:srgbClr val="1F2328"/>
                </a:solidFill>
                <a:latin typeface="Courier New"/>
                <a:ea typeface="Courier New"/>
              </a:rPr>
              <a:t>4       7.4      Powerplay</a:t>
            </a:r>
          </a:p>
          <a:p xmlns:a="http://schemas.openxmlformats.org/drawingml/2006/main">
            <a:r>
              <a:rPr lang="en-US" sz="1400">
                <a:solidFill>
                  <a:srgbClr val="1F2328"/>
                </a:solidFill>
                <a:latin typeface="Courier New"/>
                <a:ea typeface="Courier New"/>
              </a:rPr>
              <a:t>5       8.0      Powerplay</a:t>
            </a:r>
          </a:p>
          <a:p xmlns:a="http://schemas.openxmlformats.org/drawingml/2006/main">
            <a:r>
              <a:rPr lang="en-US" sz="1400">
                <a:solidFill>
                  <a:srgbClr val="1F2328"/>
                </a:solidFill>
                <a:latin typeface="Courier New"/>
                <a:ea typeface="Courier New"/>
              </a:rPr>
              <a:t>6       8.4      Powerplay  ← peak</a:t>
            </a:r>
          </a:p>
          <a:p xmlns:a="http://schemas.openxmlformats.org/drawingml/2006/main">
            <a:r>
              <a:rPr lang="en-US" sz="1400">
                <a:solidFill>
                  <a:srgbClr val="1F2328"/>
                </a:solidFill>
                <a:latin typeface="Courier New"/>
                <a:ea typeface="Courier New"/>
              </a:rPr>
              <a:t>7       7.2      Middle</a:t>
            </a:r>
          </a:p>
          <a:p xmlns:a="http://schemas.openxmlformats.org/drawingml/2006/main">
            <a:r>
              <a:rPr lang="en-US" sz="1400">
                <a:solidFill>
                  <a:srgbClr val="1F2328"/>
                </a:solidFill>
                <a:latin typeface="Courier New"/>
                <a:ea typeface="Courier New"/>
              </a:rPr>
              <a:t>8       7.1      Middle</a:t>
            </a:r>
          </a:p>
          <a:p xmlns:a="http://schemas.openxmlformats.org/drawingml/2006/main">
            <a:r>
              <a:rPr lang="en-US" sz="1400">
                <a:solidFill>
                  <a:srgbClr val="1F2328"/>
                </a:solidFill>
                <a:latin typeface="Courier New"/>
                <a:ea typeface="Courier New"/>
              </a:rPr>
              <a:t>9       7.3      Middle</a:t>
            </a:r>
          </a:p>
          <a:p xmlns:a="http://schemas.openxmlformats.org/drawingml/2006/main">
            <a:r>
              <a:rPr lang="en-US" sz="1400">
                <a:solidFill>
                  <a:srgbClr val="1F2328"/>
                </a:solidFill>
                <a:latin typeface="Courier New"/>
                <a:ea typeface="Courier New"/>
              </a:rPr>
              <a:t>10      7.4      Middle</a:t>
            </a:r>
          </a:p>
          <a:p xmlns:a="http://schemas.openxmlformats.org/drawingml/2006/main">
            <a:r>
              <a:rPr lang="en-US" sz="1400">
                <a:solidFill>
                  <a:srgbClr val="1F2328"/>
                </a:solidFill>
                <a:latin typeface="Courier New"/>
                <a:ea typeface="Courier New"/>
              </a:rPr>
              <a:t>11      7.5      Middle</a:t>
            </a:r>
          </a:p>
          <a:p xmlns:a="http://schemas.openxmlformats.org/drawingml/2006/main">
            <a:r>
              <a:rPr lang="en-US" sz="1400">
                <a:solidFill>
                  <a:srgbClr val="1F2328"/>
                </a:solidFill>
                <a:latin typeface="Courier New"/>
                <a:ea typeface="Courier New"/>
              </a:rPr>
              <a:t>12      7.6      Middle</a:t>
            </a:r>
          </a:p>
          <a:p xmlns:a="http://schemas.openxmlformats.org/drawingml/2006/main">
            <a:r>
              <a:rPr lang="en-US" sz="1400">
                <a:solidFill>
                  <a:srgbClr val="1F2328"/>
                </a:solidFill>
                <a:latin typeface="Courier New"/>
                <a:ea typeface="Courier New"/>
              </a:rPr>
              <a:t>13      7.8      Middle</a:t>
            </a:r>
          </a:p>
          <a:p xmlns:a="http://schemas.openxmlformats.org/drawingml/2006/main">
            <a:r>
              <a:rPr lang="en-US" sz="1400">
                <a:solidFill>
                  <a:srgbClr val="1F2328"/>
                </a:solidFill>
                <a:latin typeface="Courier New"/>
                <a:ea typeface="Courier New"/>
              </a:rPr>
              <a:t>14      8.1      Middle</a:t>
            </a:r>
          </a:p>
          <a:p xmlns:a="http://schemas.openxmlformats.org/drawingml/2006/main">
            <a:r>
              <a:rPr lang="en-US" sz="1400">
                <a:solidFill>
                  <a:srgbClr val="1F2328"/>
                </a:solidFill>
                <a:latin typeface="Courier New"/>
                <a:ea typeface="Courier New"/>
              </a:rPr>
              <a:t>15      8.3      Death</a:t>
            </a:r>
          </a:p>
          <a:p xmlns:a="http://schemas.openxmlformats.org/drawingml/2006/main">
            <a:r>
              <a:rPr lang="en-US" sz="1400">
                <a:solidFill>
                  <a:srgbClr val="1F2328"/>
                </a:solidFill>
                <a:latin typeface="Courier New"/>
                <a:ea typeface="Courier New"/>
              </a:rPr>
              <a:t>16      9.1      Death</a:t>
            </a:r>
          </a:p>
          <a:p xmlns:a="http://schemas.openxmlformats.org/drawingml/2006/main">
            <a:r>
              <a:rPr lang="en-US" sz="1400">
                <a:solidFill>
                  <a:srgbClr val="1F2328"/>
                </a:solidFill>
                <a:latin typeface="Courier New"/>
                <a:ea typeface="Courier New"/>
              </a:rPr>
              <a:t>17      9.8      Death</a:t>
            </a:r>
          </a:p>
          <a:p xmlns:a="http://schemas.openxmlformats.org/drawingml/2006/main">
            <a:r>
              <a:rPr lang="en-US" sz="1400">
                <a:solidFill>
                  <a:srgbClr val="1F2328"/>
                </a:solidFill>
                <a:latin typeface="Courier New"/>
                <a:ea typeface="Courier New"/>
              </a:rPr>
              <a:t>18     10.3      Death</a:t>
            </a:r>
          </a:p>
          <a:p xmlns:a="http://schemas.openxmlformats.org/drawingml/2006/main">
            <a:r>
              <a:rPr lang="en-US" sz="1400">
                <a:solidFill>
                  <a:srgbClr val="1F2328"/>
                </a:solidFill>
                <a:latin typeface="Courier New"/>
                <a:ea typeface="Courier New"/>
              </a:rPr>
              <a:t>19     10.9      Death</a:t>
            </a:r>
          </a:p>
          <a:p xmlns:a="http://schemas.openxmlformats.org/drawingml/2006/main">
            <a:r>
              <a:rPr lang="en-US" sz="1400">
                <a:solidFill>
                  <a:srgbClr val="1F2328"/>
                </a:solidFill>
                <a:latin typeface="Courier New"/>
                <a:ea typeface="Courier New"/>
              </a:rPr>
              <a:t>20     11.4      Death  ← peak</a:t>
            </a:r>
          </a:p>
        </p:txBody>
      </p:sp>
      <p:sp>
        <p:nvSpPr>
          <p:cNvPr id="100034" name="PhaseInsight"/>
          <p:cNvSpPr txBox="1"/>
          <p:nvPr/>
        </p:nvSpPr>
        <p:spPr>
          <a:xfrm xmlns:a="http://schemas.openxmlformats.org/drawingml/2006/main">
            <a:off x="6480000" y="1008000"/>
            <a:ext cx="5040000" cy="48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1F2328"/>
                </a:solidFill>
                <a:latin typeface="Calibri"/>
                <a:ea typeface="Calibri"/>
              </a:rPr>
              <a:t>Phase Analysis</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 Powerplay (Overs 1–6)</a:t>
            </a:r>
          </a:p>
          <a:p xmlns:a="http://schemas.openxmlformats.org/drawingml/2006/main">
            <a:r>
              <a:rPr lang="en-US" sz="1600">
                <a:solidFill>
                  <a:srgbClr val="1F2328"/>
                </a:solidFill>
                <a:latin typeface="Calibri"/>
                <a:ea typeface="Calibri"/>
              </a:rPr>
              <a:t>Avg ~7.9 RPO</a:t>
            </a:r>
          </a:p>
          <a:p xmlns:a="http://schemas.openxmlformats.org/drawingml/2006/main">
            <a:r>
              <a:rPr lang="en-US" sz="1600">
                <a:solidFill>
                  <a:srgbClr val="1F2328"/>
                </a:solidFill>
                <a:latin typeface="Calibri"/>
                <a:ea typeface="Calibri"/>
              </a:rPr>
              <a:t>Free-hitting environment, fielding restrictions lift aggressive intent</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 Middle Overs (7–15)</a:t>
            </a:r>
          </a:p>
          <a:p xmlns:a="http://schemas.openxmlformats.org/drawingml/2006/main">
            <a:r>
              <a:rPr lang="en-US" sz="1600">
                <a:solidFill>
                  <a:srgbClr val="1F2328"/>
                </a:solidFill>
                <a:latin typeface="Calibri"/>
                <a:ea typeface="Calibri"/>
              </a:rPr>
              <a:t>Avg ~7.5 RPO</a:t>
            </a:r>
          </a:p>
          <a:p xmlns:a="http://schemas.openxmlformats.org/drawingml/2006/main">
            <a:r>
              <a:rPr lang="en-US" sz="1600">
                <a:solidFill>
                  <a:srgbClr val="1F2328"/>
                </a:solidFill>
                <a:latin typeface="Calibri"/>
                <a:ea typeface="Calibri"/>
              </a:rPr>
              <a:t>Consolidation phase, wickets preserved, rotation of strike</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 Death Overs (16–20)</a:t>
            </a:r>
          </a:p>
          <a:p xmlns:a="http://schemas.openxmlformats.org/drawingml/2006/main">
            <a:r>
              <a:rPr lang="en-US" sz="1600">
                <a:solidFill>
                  <a:srgbClr val="1F2328"/>
                </a:solidFill>
                <a:latin typeface="Calibri"/>
                <a:ea typeface="Calibri"/>
              </a:rPr>
              <a:t>Avg ~10.3 RPO</a:t>
            </a:r>
          </a:p>
          <a:p xmlns:a="http://schemas.openxmlformats.org/drawingml/2006/main">
            <a:r>
              <a:rPr lang="en-US" sz="1600">
                <a:solidFill>
                  <a:srgbClr val="1F2328"/>
                </a:solidFill>
                <a:latin typeface="Calibri"/>
                <a:ea typeface="Calibri"/>
              </a:rPr>
              <a:t>Slog phase — 2× run rate vs middle overs, pinch hitters, yorker battles</a:t>
            </a:r>
          </a:p>
          <a:p xmlns:a="http://schemas.openxmlformats.org/drawingml/2006/main">
            <a:r>
              <a:rPr lang="en-US" sz="1600">
                <a:solidFill>
                  <a:srgbClr val="1F2328"/>
                </a:solidFill>
                <a:latin typeface="Calibri"/>
                <a:ea typeface="Calibri"/>
              </a:rPr>
              <a:t/>
            </a:r>
          </a:p>
          <a:p xmlns:a="http://schemas.openxmlformats.org/drawingml/2006/main">
            <a:r>
              <a:rPr lang="en-US" sz="1600">
                <a:solidFill>
                  <a:srgbClr val="1F2328"/>
                </a:solidFill>
                <a:latin typeface="Calibri"/>
                <a:ea typeface="Calibri"/>
              </a:rPr>
              <a:t>📌 The dashboard app lets you filter this chart per team to compare phase strategies</a:t>
            </a:r>
          </a:p>
        </p:txBody>
      </p:sp>
    </p:spTree>
  </p:cSld>
</p:sld>
</file>

<file path=ppt/slides/slide10.xml><?xml version="1.0" encoding="utf-8"?>
<p:sld xmlns:p="http://schemas.openxmlformats.org/presentationml/2006/main">
  <p:cSld>
    <p:bg>
      <p:bgPr>
        <a:solidFill xmlns:a="http://schemas.openxmlformats.org/drawingml/2006/main">
          <a:srgbClr val="1A237E"/>
        </a:solidFill>
      </p:bgPr>
    </p:bg>
    <p:spTree>
      <p:nvGrpSpPr>
        <p:cNvPr id="1" name=""/>
        <p:cNvGrpSpPr/>
        <p:nvPr/>
      </p:nvGrpSpPr>
      <p:grpSpPr/>
      <p:sp>
        <p:nvSpPr>
          <p:cNvPr id="100035"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3600" b="1">
                <a:solidFill>
                  <a:srgbClr val="FFFFFF"/>
                </a:solidFill>
              </a:rPr>
              <a:t>🏆 Key Takeaways</a:t>
            </a:r>
          </a:p>
        </p:txBody>
      </p:sp>
      <p:sp>
        <p:nvSpPr>
          <p:cNvPr id="100036" name="Points"/>
          <p:cNvSpPr txBox="1"/>
          <p:nvPr/>
        </p:nvSpPr>
        <p:spPr>
          <a:xfrm xmlns:a="http://schemas.openxmlformats.org/drawingml/2006/main">
            <a:off x="720000" y="1260000"/>
            <a:ext cx="1044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900">
                <a:solidFill>
                  <a:srgbClr val="E3F2FD"/>
                </a:solidFill>
                <a:latin typeface="Calibri"/>
                <a:ea typeface="Calibri"/>
              </a:rPr>
              <a:t>🏏  V Kohli — all-time top scorer with 9,346 runs across 18 seasons</a:t>
            </a:r>
          </a:p>
          <a:p xmlns:a="http://schemas.openxmlformats.org/drawingml/2006/main">
            <a:r>
              <a:rPr lang="en-US" sz="1900">
                <a:solidFill>
                  <a:srgbClr val="E3F2FD"/>
                </a:solidFill>
                <a:latin typeface="Calibri"/>
                <a:ea typeface="Calibri"/>
              </a:rPr>
              <a:t/>
            </a:r>
          </a:p>
          <a:p xmlns:a="http://schemas.openxmlformats.org/drawingml/2006/main">
            <a:r>
              <a:rPr lang="en-US" sz="1900">
                <a:solidFill>
                  <a:srgbClr val="E3F2FD"/>
                </a:solidFill>
                <a:latin typeface="Calibri"/>
                <a:ea typeface="Calibri"/>
              </a:rPr>
              <a:t>🎳  YS Chahal — highest wicket-taker with 233 wickets</a:t>
            </a:r>
          </a:p>
          <a:p xmlns:a="http://schemas.openxmlformats.org/drawingml/2006/main">
            <a:r>
              <a:rPr lang="en-US" sz="1900">
                <a:solidFill>
                  <a:srgbClr val="E3F2FD"/>
                </a:solidFill>
                <a:latin typeface="Calibri"/>
                <a:ea typeface="Calibri"/>
              </a:rPr>
              <a:t/>
            </a:r>
          </a:p>
          <a:p xmlns:a="http://schemas.openxmlformats.org/drawingml/2006/main">
            <a:r>
              <a:rPr lang="en-US" sz="1900">
                <a:solidFill>
                  <a:srgbClr val="E3F2FD"/>
                </a:solidFill>
                <a:latin typeface="Calibri"/>
                <a:ea typeface="Calibri"/>
              </a:rPr>
              <a:t>🏟️  Mumbai Indians — most franchise wins (148)</a:t>
            </a:r>
          </a:p>
          <a:p xmlns:a="http://schemas.openxmlformats.org/drawingml/2006/main">
            <a:r>
              <a:rPr lang="en-US" sz="1900">
                <a:solidFill>
                  <a:srgbClr val="E3F2FD"/>
                </a:solidFill>
                <a:latin typeface="Calibri"/>
                <a:ea typeface="Calibri"/>
              </a:rPr>
              <a:t/>
            </a:r>
          </a:p>
          <a:p xmlns:a="http://schemas.openxmlformats.org/drawingml/2006/main">
            <a:r>
              <a:rPr lang="en-US" sz="1900">
                <a:solidFill>
                  <a:srgbClr val="E3F2FD"/>
                </a:solidFill>
                <a:latin typeface="Calibri"/>
                <a:ea typeface="Calibri"/>
              </a:rPr>
              <a:t>🎯  Fielding first wins 53.7% vs batting first at 44.3%</a:t>
            </a:r>
          </a:p>
          <a:p xmlns:a="http://schemas.openxmlformats.org/drawingml/2006/main">
            <a:r>
              <a:rPr lang="en-US" sz="1900">
                <a:solidFill>
                  <a:srgbClr val="E3F2FD"/>
                </a:solidFill>
                <a:latin typeface="Calibri"/>
                <a:ea typeface="Calibri"/>
              </a:rPr>
              <a:t/>
            </a:r>
          </a:p>
          <a:p xmlns:a="http://schemas.openxmlformats.org/drawingml/2006/main">
            <a:r>
              <a:rPr lang="en-US" sz="1900">
                <a:solidFill>
                  <a:srgbClr val="E3F2FD"/>
                </a:solidFill>
                <a:latin typeface="Calibri"/>
                <a:ea typeface="Calibri"/>
              </a:rPr>
              <a:t>📍  'Caught' is the #1 dismissal type (≈57% of all wickets)</a:t>
            </a:r>
          </a:p>
          <a:p xmlns:a="http://schemas.openxmlformats.org/drawingml/2006/main">
            <a:r>
              <a:rPr lang="en-US" sz="1900">
                <a:solidFill>
                  <a:srgbClr val="E3F2FD"/>
                </a:solidFill>
                <a:latin typeface="Calibri"/>
                <a:ea typeface="Calibri"/>
              </a:rPr>
              <a:t/>
            </a:r>
          </a:p>
          <a:p xmlns:a="http://schemas.openxmlformats.org/drawingml/2006/main">
            <a:r>
              <a:rPr lang="en-US" sz="1900">
                <a:solidFill>
                  <a:srgbClr val="E3F2FD"/>
                </a:solidFill>
                <a:latin typeface="Calibri"/>
                <a:ea typeface="Calibri"/>
              </a:rPr>
              <a:t>🔥  Wankhede &amp; Chinnaswamy are the highest-scoring grounds</a:t>
            </a:r>
          </a:p>
          <a:p xmlns:a="http://schemas.openxmlformats.org/drawingml/2006/main">
            <a:r>
              <a:rPr lang="en-US" sz="1900">
                <a:solidFill>
                  <a:srgbClr val="E3F2FD"/>
                </a:solidFill>
                <a:latin typeface="Calibri"/>
                <a:ea typeface="Calibri"/>
              </a:rPr>
              <a:t/>
            </a:r>
          </a:p>
          <a:p xmlns:a="http://schemas.openxmlformats.org/drawingml/2006/main">
            <a:r>
              <a:rPr lang="en-US" sz="1900">
                <a:solidFill>
                  <a:srgbClr val="E3F2FD"/>
                </a:solidFill>
                <a:latin typeface="Calibri"/>
                <a:ea typeface="Calibri"/>
              </a:rPr>
              <a:t>📈  Death overs (16–20) produce ~2× the run rate of middle overs</a:t>
            </a:r>
          </a:p>
          <a:p xmlns:a="http://schemas.openxmlformats.org/drawingml/2006/main">
            <a:r>
              <a:rPr lang="en-US" sz="1900">
                <a:solidFill>
                  <a:srgbClr val="E3F2FD"/>
                </a:solidFill>
                <a:latin typeface="Calibri"/>
                <a:ea typeface="Calibri"/>
              </a:rPr>
              <a:t/>
            </a:r>
          </a:p>
          <a:p xmlns:a="http://schemas.openxmlformats.org/drawingml/2006/main">
            <a:r>
              <a:rPr lang="en-US" sz="1900">
                <a:solidFill>
                  <a:srgbClr val="E3F2FD"/>
                </a:solidFill>
                <a:latin typeface="Calibri"/>
                <a:ea typeface="Calibri"/>
              </a:rPr>
              <a:t>💻  Run:  python -m streamlit run ipl_analytics/app.py</a:t>
            </a:r>
          </a:p>
        </p:txBody>
      </p:sp>
      <p:sp>
        <p:nvSpPr>
          <p:cNvPr id="100037" name="Footer"/>
          <p:cNvSpPr txBox="1"/>
          <p:nvPr/>
        </p:nvSpPr>
        <p:spPr>
          <a:xfrm xmlns:a="http://schemas.openxmlformats.org/drawingml/2006/main">
            <a:off x="540000" y="6192000"/>
            <a:ext cx="1080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lang="en-US" sz="1200">
                <a:solidFill>
                  <a:srgbClr val="90CAF9"/>
                </a:solidFill>
              </a:rPr>
              <a:t>Built with Python · Streamlit · Plotly · Pandas   |   github.com/your-username/ipl-analytics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2026-09-23T08:26:20Z</dcterms:created>
  <cp:lastModifiedBy>OfficeCLI</cp:lastModifiedBy>
  <dcterms:modified xsi:type="dcterms:W3CDTF">2026-09-23T08:26:20Z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1.0.144</vt:lpwstr>
  </op:property>
  <op:property fmtid="{D5CDD505-2E9C-101B-9397-08002B2CF9AE}" pid="3" name="OfficeCLI.LastModified">
    <vt:lpwstr xmlns:vt="http://schemas.openxmlformats.org/officeDocument/2006/docPropsVTypes">2026-09-23T08:26:22Z</vt:lpwstr>
  </op:property>
</op:Properties>
</file>